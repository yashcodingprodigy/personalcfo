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4688" y="1554480"/>
            <a:ext cx="1188720" cy="1188720"/>
          </a:xfrm>
          <a:prstGeom prst="roundRect">
            <a:avLst>
              <a:gd name="adj" fmla="val 27692"/>
            </a:avLst>
          </a:prstGeom>
          <a:solidFill>
            <a:srgbClr val="2FBC9B"/>
          </a:solidFill>
          <a:ln/>
        </p:spPr>
      </p:sp>
      <p:sp>
        <p:nvSpPr>
          <p:cNvPr id="3" name="Shape 1"/>
          <p:cNvSpPr/>
          <p:nvPr/>
        </p:nvSpPr>
        <p:spPr>
          <a:xfrm>
            <a:off x="5779008" y="2286000"/>
            <a:ext cx="155448" cy="365760"/>
          </a:xfrm>
          <a:prstGeom prst="roundRect">
            <a:avLst>
              <a:gd name="adj" fmla="val 41176"/>
            </a:avLst>
          </a:prstGeom>
          <a:solidFill>
            <a:srgbClr val="07211D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2084832"/>
            <a:ext cx="155448" cy="566928"/>
          </a:xfrm>
          <a:prstGeom prst="roundRect">
            <a:avLst>
              <a:gd name="adj" fmla="val 41176"/>
            </a:avLst>
          </a:prstGeom>
          <a:solidFill>
            <a:srgbClr val="07211D"/>
          </a:solidFill>
          <a:ln/>
        </p:spPr>
      </p:sp>
      <p:sp>
        <p:nvSpPr>
          <p:cNvPr id="5" name="Shape 3"/>
          <p:cNvSpPr/>
          <p:nvPr/>
        </p:nvSpPr>
        <p:spPr>
          <a:xfrm>
            <a:off x="6291072" y="1847088"/>
            <a:ext cx="155448" cy="804672"/>
          </a:xfrm>
          <a:prstGeom prst="roundRect">
            <a:avLst>
              <a:gd name="adj" fmla="val 41176"/>
            </a:avLst>
          </a:prstGeom>
          <a:solidFill>
            <a:srgbClr val="07211D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97180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</a:t>
            </a:r>
            <a:pPr algn="ctr" indent="0" marL="0">
              <a:buNone/>
            </a:pPr>
            <a:r>
              <a:rPr lang="en-US" sz="4000" i="1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0" y="374904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your money </a:t>
            </a:r>
            <a:pPr algn="ctr" indent="0" marL="0">
              <a:buNone/>
            </a:pPr>
            <a:r>
              <a:rPr lang="en-US" sz="2800" dirty="0">
                <a:solidFill>
                  <a:srgbClr val="2FBC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4526280"/>
            <a:ext cx="8531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3D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private financial CFO in your pocket — one score, one plan, one AI advisor.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8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/ mentor brief  ·  [ Date 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3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Managing money in India is broken.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person’s finances are scattered across 8–10 apps — bank, UPI, mutual funds, insurance, tax portals — with no single view.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see data everywhere, but get no guidance on what to actually do next.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advice (a CA or planner) is expensive, intimidating, or out of reach — so most people go without.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result: they under-invest, stay under-insured, overpay tax, and lose years of compounding to inaction.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507492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0F3D3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50749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Hundreds of millions of young, first-time earners are entering the formal economy with no one guiding their money.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private financial CFO in your pocket.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3D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PayWatch unifies your entire financial life and tells you exactly what to do next — in plain, beginner-friendly language.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0F3D34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3127248"/>
            <a:ext cx="164592" cy="164592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3017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Health Score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493008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3D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whole financial life as one number, across six dimensions — savings, insurance, diversification, emergency fund, debt and tax.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83464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0F3D34"/>
          </a:solidFill>
          <a:ln/>
        </p:spPr>
      </p:sp>
      <p:sp>
        <p:nvSpPr>
          <p:cNvPr id="10" name="Shape 8"/>
          <p:cNvSpPr/>
          <p:nvPr/>
        </p:nvSpPr>
        <p:spPr>
          <a:xfrm>
            <a:off x="4599432" y="3127248"/>
            <a:ext cx="164592" cy="164592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3017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plan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3493008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3D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prioritised list of steps, quantified in rupees and with deadlines. Do an action, watch your score move.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283464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0F3D34"/>
          </a:solidFill>
          <a:ln/>
        </p:spPr>
      </p:sp>
      <p:sp>
        <p:nvSpPr>
          <p:cNvPr id="14" name="Shape 12"/>
          <p:cNvSpPr/>
          <p:nvPr/>
        </p:nvSpPr>
        <p:spPr>
          <a:xfrm>
            <a:off x="8302752" y="3127248"/>
            <a:ext cx="164592" cy="164592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0" y="3017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PayWatch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3493008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3D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advisor that answers in plain English using your own numbers — not generic tips.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3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→ Understand → Act.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66928" cy="566928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20574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48716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finances by uploading documents (statements, payslips, Form 16) or entering details — no bank passwords, ever.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474720"/>
            <a:ext cx="566928" cy="566928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474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34290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85876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compute your Money Health Score and a full picture of income, tax, insurance and investments.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846320"/>
            <a:ext cx="566928" cy="566928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846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48006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523036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a clear, rupee-quantified action plan — and can ask the AI advisor anything, any time.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3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app, the whole picture.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7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258568"/>
            <a:ext cx="164592" cy="164592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1488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Health Score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2432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dimensions, one clear number, tracked over time.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7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9432" y="2258568"/>
            <a:ext cx="164592" cy="164592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21488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PayWatch (AI)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62432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grounded in your real numbers; scope-guarded.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9659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7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02752" y="2258568"/>
            <a:ext cx="164592" cy="164592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0" y="21488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262432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computation across all income heads + guided ITR filing.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7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4224528"/>
            <a:ext cx="164592" cy="164592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4114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59028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discovery, comparison, and policy tracking.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43400" y="393192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7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99432" y="4224528"/>
            <a:ext cx="164592" cy="164592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4114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17720" y="459028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Category-level guidance + portfolio look-through.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46720" y="393192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7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02752" y="4224528"/>
            <a:ext cx="164592" cy="164592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26" name="Text 24"/>
          <p:cNvSpPr/>
          <p:nvPr/>
        </p:nvSpPr>
        <p:spPr>
          <a:xfrm>
            <a:off x="8595360" y="4114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tools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21040" y="459028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Alerts, monthly briefings, spending scan, document vault.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DATA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3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money data is sensitive — we treat it that way.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29200" cy="3931920"/>
          </a:xfrm>
          <a:prstGeom prst="roundRect">
            <a:avLst>
              <a:gd name="adj" fmla="val 2791"/>
            </a:avLst>
          </a:prstGeom>
          <a:solidFill>
            <a:srgbClr val="0F3D3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B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concern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are right to hesitate before sharing income and bank data. Winning that trust is the whole game — so it is designed in from day one.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0" y="1965960"/>
            <a:ext cx="55778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bank passwords, ever — login is a simple mobile OTP.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choose what to share — start with manual entry or document upload; nothing is forced.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Bank-grade security — encrypted in transit and at rest (AES-256).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in India (Mumbai), aligned with the DPDP Act; export or delete anytime.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bank sync (later) only via RBI’s regulated Account Aggregator — consent-based, revocable, still no passwords.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43600" y="55321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earn trust by giving useful guidance with minimal data first — users share more as they see the value.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massive, underserved, digitising market.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83D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500M+ working Indians, plus a fast-growing base of young, digital-first earners and students.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83D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products are booming (UPI, demat accounts, insurance) — but guidance has not kept up.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83D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apps assume you already know what to do; beginners and the mass market are underserved.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83D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India and rising financial awareness make this the moment to build the guidance layer.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3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Crowded market — but no one connects the dots.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258568"/>
            <a:ext cx="164592" cy="164592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1488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 trackers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24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Walnut, Money View, Cred — Show spending. No plan.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9432" y="2258568"/>
            <a:ext cx="164592" cy="164592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21488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tools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624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ClearTax, Quicko — Tax filing only.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96596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02752" y="2258568"/>
            <a:ext cx="164592" cy="164592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0" y="21488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26243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PolicyBazaar, Ditto — Insurance only.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4087368"/>
            <a:ext cx="164592" cy="164592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9776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4531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Groww, Zerodha, INDmoney — Investing-led; INDmoney aggregates but doesn’t give a plan.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43400" y="379476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99432" y="4087368"/>
            <a:ext cx="164592" cy="164592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9776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advisors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17720" y="44531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/ financial planners — Trusted, but costly and not scalable.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43400" y="3794760"/>
            <a:ext cx="7178040" cy="1645920"/>
          </a:xfrm>
          <a:prstGeom prst="roundRect">
            <a:avLst>
              <a:gd name="adj" fmla="val 6667"/>
            </a:avLst>
          </a:prstGeom>
          <a:solidFill>
            <a:srgbClr val="0F3D34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3977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B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stand out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17720" y="4370832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PayWatch is the only one that unifies all of it and adds a guidance layer — one score, one plan, one AI advisor — built for beginners, education-first, never product-pushing.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holds up under scrutiny.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83D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hard, valuable part is guidance — turning messy data into “do this next.” Data is commoditised; judgment isn’t.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83D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Unification is a structural moat — incumbents each own one silo and won’t cannibalise it (a tax app won’t push insurance; a broker won’t tell you to hold cash).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83D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 advisor improves with every user and interaction, grounded in real financial data.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83D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Education-first, no product-pushing — builds trust and loyalty in an under-served beginner segment.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83D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revenue lines (subscription + insurance + mutual-fund distribution) once partnered — resilient economics.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83D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on risk: a big player could attempt this — but it cuts against their single-product incentives, and the beginner-guidance niche is wide open.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3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Freemium subscription + distribution.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E7E2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54203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3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60120" y="32461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hook — Money Health Score + a taste.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52044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E7E2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54203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3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₹199 / mo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63440" y="32461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score, insights, tax prep, guidance.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965960"/>
            <a:ext cx="3520440" cy="2194560"/>
          </a:xfrm>
          <a:prstGeom prst="roundRect">
            <a:avLst>
              <a:gd name="adj" fmla="val 5833"/>
            </a:avLst>
          </a:prstGeom>
          <a:solidFill>
            <a:srgbClr val="0F3D34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D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66760" y="254203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₹499 / mo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366760" y="32461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3D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Everything, unlimited — the full CFO.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57200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commission from insurance and mutual-fund distribution, via licensed partners.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economics — near-zero marginal cost per user; margins grow with scale.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customer-acquisition cost through organic and campus channels.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3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complete, working product.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functional app, end to end — live on web and mobile (Android &amp; iOS).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entire feature set is built — score, AI advisor, tax, insurance and investing.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Incubated at the MAHE Innovation Centre.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stage — Technology Readiness Level 7.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validate with real users, formalise the company, and prepare for commercial launch.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COMMERCIAL LAUNCH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Partner-first, licence-later.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21408"/>
            <a:ext cx="457200" cy="45720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057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B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31920" y="205740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3D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product — validate demand with real users.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3172968"/>
            <a:ext cx="457200" cy="45720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B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31920" y="310896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3D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via a licensed embedded partner (e.g. Zopper / Riskcovry); investing via an AMFI mutual-fund distributor (ARN) + BSE StAR MF.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4224528"/>
            <a:ext cx="457200" cy="45720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4160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B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Licenses &amp; registrations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31920" y="416052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3D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Incorporate the company; ERI for one-click ITR e-filing; DPDP compliance; Razorpay live; Account Aggregator (FIU) for bank sync.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5276088"/>
            <a:ext cx="457200" cy="457200"/>
          </a:xfrm>
          <a:prstGeom prst="ellipse">
            <a:avLst/>
          </a:prstGeom>
          <a:solidFill>
            <a:srgbClr val="2FBC9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721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5212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B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31920" y="521208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3D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users, turn on revenue, raise funding.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3D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solo — now building a team.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881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Yash Saini — founder. Built the entire product end to end: web, mobile, backend, AI integration and the tax / score / insurance engines.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onboarding student interns across marketing, research, product and outreach, with Innovation Centre support.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85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Mentored and incubated at the MAHE Innovation Centre.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clarity for every Indian.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FBC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for those who can afford an advisor — for everyone.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10881360" cy="2743200"/>
          </a:xfrm>
          <a:prstGeom prst="roundRect">
            <a:avLst>
              <a:gd name="adj" fmla="val 4667"/>
            </a:avLst>
          </a:prstGeom>
          <a:solidFill>
            <a:srgbClr val="0F3D3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063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BC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520440"/>
            <a:ext cx="101498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 and a place in an accelerator / incubation programme.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Introductions to licensed partners — insurance and mutual-fund distribution.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reaching early users to validate demand.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41848" y="1920240"/>
            <a:ext cx="914400" cy="914400"/>
          </a:xfrm>
          <a:prstGeom prst="roundRect">
            <a:avLst>
              <a:gd name="adj" fmla="val 28000"/>
            </a:avLst>
          </a:prstGeom>
          <a:solidFill>
            <a:srgbClr val="2FBC9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97180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</a:t>
            </a:r>
            <a:pPr algn="ctr" indent="0" marL="0">
              <a:buNone/>
            </a:pPr>
            <a:r>
              <a:rPr lang="en-US" sz="3400" i="1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0" y="370332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FBC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your money grow.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47548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3DE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Yash Saini  ·  Founder, PayWatch  ·  [ email ]  ·  [ phone ]  ·  paywatch.in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2026-08-14T11:56:56Z</dcterms:created>
  <dcterms:modified xsi:type="dcterms:W3CDTF">2026-08-14T11:56:56Z</dcterms:modified>
</cp:coreProperties>
</file>