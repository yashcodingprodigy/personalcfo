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1371600"/>
            <a:ext cx="1097280" cy="1097280"/>
          </a:xfrm>
          <a:prstGeom prst="roundRect">
            <a:avLst>
              <a:gd name="adj" fmla="val 28000"/>
            </a:avLst>
          </a:prstGeom>
          <a:solidFill>
            <a:srgbClr val="2FBC9B"/>
          </a:solidFill>
          <a:ln/>
        </p:spPr>
      </p:sp>
      <p:sp>
        <p:nvSpPr>
          <p:cNvPr id="3" name="Shape 1"/>
          <p:cNvSpPr/>
          <p:nvPr/>
        </p:nvSpPr>
        <p:spPr>
          <a:xfrm>
            <a:off x="5795467" y="1920240"/>
            <a:ext cx="142646" cy="329184"/>
          </a:xfrm>
          <a:prstGeom prst="roundRect">
            <a:avLst>
              <a:gd name="adj" fmla="val 45000"/>
            </a:avLst>
          </a:prstGeom>
          <a:solidFill>
            <a:srgbClr val="07211D"/>
          </a:solidFill>
          <a:ln/>
        </p:spPr>
      </p:sp>
      <p:sp>
        <p:nvSpPr>
          <p:cNvPr id="4" name="Shape 2"/>
          <p:cNvSpPr/>
          <p:nvPr/>
        </p:nvSpPr>
        <p:spPr>
          <a:xfrm>
            <a:off x="6025896" y="1700784"/>
            <a:ext cx="142646" cy="548640"/>
          </a:xfrm>
          <a:prstGeom prst="roundRect">
            <a:avLst>
              <a:gd name="adj" fmla="val 45000"/>
            </a:avLst>
          </a:prstGeom>
          <a:solidFill>
            <a:srgbClr val="07211D"/>
          </a:solidFill>
          <a:ln/>
        </p:spPr>
      </p:sp>
      <p:sp>
        <p:nvSpPr>
          <p:cNvPr id="5" name="Shape 3"/>
          <p:cNvSpPr/>
          <p:nvPr/>
        </p:nvSpPr>
        <p:spPr>
          <a:xfrm>
            <a:off x="6256325" y="1503274"/>
            <a:ext cx="142646" cy="746150"/>
          </a:xfrm>
          <a:prstGeom prst="roundRect">
            <a:avLst>
              <a:gd name="adj" fmla="val 45000"/>
            </a:avLst>
          </a:prstGeom>
          <a:solidFill>
            <a:srgbClr val="07211D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606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pPr algn="ctr" indent="0" marL="0">
              <a:buNone/>
            </a:pPr>
            <a:r>
              <a:rPr lang="en-US" sz="4000" i="1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342900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your money </a:t>
            </a:r>
            <a:pPr algn="ctr" indent="0" marL="0">
              <a:buNone/>
            </a:pPr>
            <a:r>
              <a:rPr lang="en-US" sz="3400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28800" y="429768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3D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financial CFO in your pocket - for the price of a streaming subscription.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-  [ Your name ]  -  [ Date 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is messy - and no one tells you what to do.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0F3D3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2194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08760" y="26517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Salary, savings, investments, insurance and taxes live across many apps - no single view.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611880"/>
            <a:ext cx="502920" cy="502920"/>
          </a:xfrm>
          <a:prstGeom prst="ellipse">
            <a:avLst/>
          </a:prstGeom>
          <a:solidFill>
            <a:srgbClr val="0F3D3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3566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guidance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08760" y="40233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see charts and numbers, but never a clear next step.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983480"/>
            <a:ext cx="502920" cy="502920"/>
          </a:xfrm>
          <a:prstGeom prst="ellipse">
            <a:avLst/>
          </a:prstGeom>
          <a:solidFill>
            <a:srgbClr val="0F3D3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4937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is out of reach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53949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and financial advisors are costly, intimidating, or inaccessible for most.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 that tells you exactly what to do with your </a:t>
            </a:r>
            <a:pPr indent="0" marL="0">
              <a:buNone/>
            </a:pPr>
            <a:r>
              <a:rPr lang="en-US" sz="3600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3383280" cy="2651760"/>
          </a:xfrm>
          <a:prstGeom prst="roundRect">
            <a:avLst>
              <a:gd name="adj" fmla="val 4828"/>
            </a:avLst>
          </a:prstGeom>
          <a:solidFill>
            <a:srgbClr val="0F3D34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3611880"/>
            <a:ext cx="365760" cy="36576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score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46634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3D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whole financial life as a single Money Health Score.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3291840"/>
            <a:ext cx="3383280" cy="2651760"/>
          </a:xfrm>
          <a:prstGeom prst="roundRect">
            <a:avLst>
              <a:gd name="adj" fmla="val 4828"/>
            </a:avLst>
          </a:prstGeom>
          <a:solidFill>
            <a:srgbClr val="0F3D34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3611880"/>
            <a:ext cx="365760" cy="36576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46634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3D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prioritised action list, quantified in rupees.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3291840"/>
            <a:ext cx="3383280" cy="2651760"/>
          </a:xfrm>
          <a:prstGeom prst="roundRect">
            <a:avLst>
              <a:gd name="adj" fmla="val 4828"/>
            </a:avLst>
          </a:prstGeom>
          <a:solidFill>
            <a:srgbClr val="0F3D34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3611880"/>
            <a:ext cx="365760" cy="36576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AI advisor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66760" y="46634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3D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PayWatch - answers in your own numbers.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Connect. Understand. Act.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21762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6334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finances - no bank passwords, no jargon.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548640" cy="54864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35021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9593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Money Health Score across six dimensions.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846320"/>
            <a:ext cx="548640" cy="54864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4828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clear, rupee-quantified plan - and watch it move.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201168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2FBC9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46520" y="2011680"/>
            <a:ext cx="507492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your dashboard - Money Health Score 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 finance team, in one app.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41448"/>
            <a:ext cx="182880" cy="18288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2350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PayWatch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072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grounded in your real numbers.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14884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441448"/>
            <a:ext cx="182880" cy="18288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2350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Health Score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8072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dimensions, one clear number.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14884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441448"/>
            <a:ext cx="182880" cy="18288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4" name="Text 12"/>
          <p:cNvSpPr/>
          <p:nvPr/>
        </p:nvSpPr>
        <p:spPr>
          <a:xfrm>
            <a:off x="8613648" y="2350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8072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computation + guided ITR prep &amp; filing.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270248"/>
            <a:ext cx="182880" cy="18288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4178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6360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check, comparison, policy tracking.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397764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4270248"/>
            <a:ext cx="182880" cy="18288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4178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46360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Personalised, category-level guidance.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397764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4270248"/>
            <a:ext cx="182880" cy="18288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26" name="Text 24"/>
          <p:cNvSpPr/>
          <p:nvPr/>
        </p:nvSpPr>
        <p:spPr>
          <a:xfrm>
            <a:off x="8613648" y="4178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vault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21040" y="46360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Reminders, briefings, secure documents.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huge, underserved market - going digital.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383280" cy="2743200"/>
          </a:xfrm>
          <a:prstGeom prst="roundRect">
            <a:avLst>
              <a:gd name="adj" fmla="val 4667"/>
            </a:avLst>
          </a:prstGeom>
          <a:solidFill>
            <a:srgbClr val="0F3D3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00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3D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Indians who need money guidance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2743200"/>
            <a:ext cx="3383280" cy="2743200"/>
          </a:xfrm>
          <a:prstGeom prst="roundRect">
            <a:avLst>
              <a:gd name="adj" fmla="val 4667"/>
            </a:avLst>
          </a:prstGeom>
          <a:solidFill>
            <a:srgbClr val="0F3D34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3200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Digital-first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17720" y="42976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3D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earners &amp; students coming online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2743200"/>
            <a:ext cx="3383280" cy="2743200"/>
          </a:xfrm>
          <a:prstGeom prst="roundRect">
            <a:avLst>
              <a:gd name="adj" fmla="val 4667"/>
            </a:avLst>
          </a:prstGeom>
          <a:solidFill>
            <a:srgbClr val="0F3D34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3200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21040" y="42976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3D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unifies score, tax, insurance &amp; investing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make money.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3474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 - Money Health Score + a taste.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38328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199 / mo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63440" y="3474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score, insights, tax prep, guidance.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383280" cy="2468880"/>
          </a:xfrm>
          <a:prstGeom prst="roundRect">
            <a:avLst>
              <a:gd name="adj" fmla="val 5185"/>
            </a:avLst>
          </a:prstGeom>
          <a:solidFill>
            <a:srgbClr val="0F3D34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D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6676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499 / mo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66760" y="3474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3D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Everything, unlimited - the full CFO.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Revenue from regulated insurance and mutual-fund distribution, via licensed partners.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just show data - we tell you what to do.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8328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468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Walnut, Money View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" y="34290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charts. No guidance.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38328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468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tools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36008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ClearTax, PolicyBazaar, Groww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36008" y="34290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one problem each, in isolation.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383280" cy="3108960"/>
          </a:xfrm>
          <a:prstGeom prst="roundRect">
            <a:avLst>
              <a:gd name="adj" fmla="val 4118"/>
            </a:avLst>
          </a:prstGeom>
          <a:solidFill>
            <a:srgbClr val="0F3D34"/>
          </a:solidFill>
          <a:ln/>
        </p:spPr>
      </p:sp>
      <p:sp>
        <p:nvSpPr>
          <p:cNvPr id="13" name="Text 11"/>
          <p:cNvSpPr/>
          <p:nvPr/>
        </p:nvSpPr>
        <p:spPr>
          <a:xfrm>
            <a:off x="8339328" y="2468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PayWatch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39328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D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it, unified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39328" y="34290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score, one plan, one AI advisor - with what to do next.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product - built and live.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295144"/>
            <a:ext cx="256032" cy="25603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app, end to 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3209544"/>
            <a:ext cx="256032" cy="25603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3154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web and mobile (Android &amp; iOS)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4123944"/>
            <a:ext cx="256032" cy="25603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set already built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5038344"/>
            <a:ext cx="256032" cy="25603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stage - Technology Readiness Level 7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46520" y="201168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2FBC9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446520" y="2011680"/>
            <a:ext cx="507492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8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app montage - dashboard / Ask / Tax ]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to commercial launch.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84248"/>
            <a:ext cx="457200" cy="45720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3360" y="192024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D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 - validate demand with real users.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035808"/>
            <a:ext cx="457200" cy="45720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23360" y="29718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D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via a licensed embedded partner (e.g. Zopper / Riskcovry); investing via AMFI Mutual Fund Distributor (ARN) + BSE StAR MF.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087368"/>
            <a:ext cx="457200" cy="45720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 &amp; registrations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402336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D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the company; ERI for one-click ITR e-filing; DPDP data-protection compliance; Razorpay live; Account Aggregator (FIU) for bank sync.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138928"/>
            <a:ext cx="457200" cy="45720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5074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23360" y="50749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D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users, turn on revenue, raise funding.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clarity for </a:t>
            </a:r>
            <a:pPr indent="0" marL="0">
              <a:buNone/>
            </a:pPr>
            <a:r>
              <a:rPr lang="en-US" sz="3800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Indian</a:t>
            </a:r>
            <a:pPr indent="0" marL="0">
              <a:buNone/>
            </a:pPr>
            <a:r>
              <a:rPr lang="en-US" sz="38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not just the wealthy.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3931920"/>
            <a:ext cx="10881360" cy="1554480"/>
          </a:xfrm>
          <a:prstGeom prst="roundRect">
            <a:avLst>
              <a:gd name="adj" fmla="val 8235"/>
            </a:avLst>
          </a:prstGeom>
          <a:solidFill>
            <a:srgbClr val="0F3D3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45262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mentorship, incubation support and the right partnerships to take PayWatch commercial.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182880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2FBC9B"/>
          </a:solidFill>
          <a:ln/>
        </p:spPr>
      </p:sp>
      <p:sp>
        <p:nvSpPr>
          <p:cNvPr id="3" name="Shape 1"/>
          <p:cNvSpPr/>
          <p:nvPr/>
        </p:nvSpPr>
        <p:spPr>
          <a:xfrm>
            <a:off x="5861304" y="2286000"/>
            <a:ext cx="118872" cy="274320"/>
          </a:xfrm>
          <a:prstGeom prst="roundRect">
            <a:avLst>
              <a:gd name="adj" fmla="val 45000"/>
            </a:avLst>
          </a:prstGeom>
          <a:solidFill>
            <a:srgbClr val="07211D"/>
          </a:solidFill>
          <a:ln/>
        </p:spPr>
      </p:sp>
      <p:sp>
        <p:nvSpPr>
          <p:cNvPr id="4" name="Shape 2"/>
          <p:cNvSpPr/>
          <p:nvPr/>
        </p:nvSpPr>
        <p:spPr>
          <a:xfrm>
            <a:off x="6053328" y="2103120"/>
            <a:ext cx="118872" cy="457200"/>
          </a:xfrm>
          <a:prstGeom prst="roundRect">
            <a:avLst>
              <a:gd name="adj" fmla="val 45000"/>
            </a:avLst>
          </a:prstGeom>
          <a:solidFill>
            <a:srgbClr val="07211D"/>
          </a:solidFill>
          <a:ln/>
        </p:spPr>
      </p:sp>
      <p:sp>
        <p:nvSpPr>
          <p:cNvPr id="5" name="Shape 3"/>
          <p:cNvSpPr/>
          <p:nvPr/>
        </p:nvSpPr>
        <p:spPr>
          <a:xfrm>
            <a:off x="6245352" y="1938528"/>
            <a:ext cx="118872" cy="621792"/>
          </a:xfrm>
          <a:prstGeom prst="roundRect">
            <a:avLst>
              <a:gd name="adj" fmla="val 45000"/>
            </a:avLst>
          </a:prstGeom>
          <a:solidFill>
            <a:srgbClr val="07211D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88036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pPr algn="ctr" indent="0" marL="0">
              <a:buNone/>
            </a:pPr>
            <a:r>
              <a:rPr lang="en-US" sz="3400" i="1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your money grow.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email ]   -   [ phone ]   -   paywatch.in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2026-07-30T11:26:30Z</dcterms:created>
  <dcterms:modified xsi:type="dcterms:W3CDTF">2026-07-30T11:26:30Z</dcterms:modified>
</cp:coreProperties>
</file>