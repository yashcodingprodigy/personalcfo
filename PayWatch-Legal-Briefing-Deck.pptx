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F2A"/>
        </a:solidFill>
      </p:bgPr>
    </p:bg>
    <p:spTree>
      <p:nvGrpSpPr>
        <p:cNvPr id="1" name=""/>
        <p:cNvGrpSpPr/>
        <p:nvPr/>
      </p:nvGrpSpPr>
      <p:grpSpPr>
        <a:xfrm>
          <a:off x="0" y="0"/>
          <a:ext cx="0" cy="0"/>
          <a:chOff x="0" y="0"/>
          <a:chExt cx="0" cy="0"/>
        </a:xfrm>
      </p:grpSpPr>
      <p:sp>
        <p:nvSpPr>
          <p:cNvPr id="2" name="Text 0"/>
          <p:cNvSpPr/>
          <p:nvPr/>
        </p:nvSpPr>
        <p:spPr>
          <a:xfrm>
            <a:off x="731520" y="2286000"/>
            <a:ext cx="10058400" cy="1005840"/>
          </a:xfrm>
          <a:prstGeom prst="rect">
            <a:avLst/>
          </a:prstGeom>
          <a:noFill/>
          <a:ln/>
        </p:spPr>
        <p:txBody>
          <a:bodyPr wrap="square" rtlCol="0" anchor="ctr"/>
          <a:lstStyle/>
          <a:p>
            <a:pPr indent="0" marL="0">
              <a:buNone/>
            </a:pPr>
            <a:r>
              <a:rPr lang="en-US" sz="5600" b="1" dirty="0">
                <a:solidFill>
                  <a:srgbClr val="FFFFFF"/>
                </a:solidFill>
                <a:latin typeface="Arial" pitchFamily="34" charset="0"/>
                <a:ea typeface="Arial" pitchFamily="34" charset="-122"/>
                <a:cs typeface="Arial" pitchFamily="34" charset="-120"/>
              </a:rPr>
              <a:t>PayWatch</a:t>
            </a:r>
            <a:endParaRPr lang="en-US" sz="5600" dirty="0"/>
          </a:p>
        </p:txBody>
      </p:sp>
      <p:sp>
        <p:nvSpPr>
          <p:cNvPr id="3" name="Text 1"/>
          <p:cNvSpPr/>
          <p:nvPr/>
        </p:nvSpPr>
        <p:spPr>
          <a:xfrm>
            <a:off x="777240" y="3291840"/>
            <a:ext cx="10058400" cy="548640"/>
          </a:xfrm>
          <a:prstGeom prst="rect">
            <a:avLst/>
          </a:prstGeom>
          <a:noFill/>
          <a:ln/>
        </p:spPr>
        <p:txBody>
          <a:bodyPr wrap="square" rtlCol="0" anchor="ctr"/>
          <a:lstStyle/>
          <a:p>
            <a:pPr indent="0" marL="0">
              <a:buNone/>
            </a:pPr>
            <a:r>
              <a:rPr lang="en-US" sz="2600" dirty="0">
                <a:solidFill>
                  <a:srgbClr val="2FBC9B"/>
                </a:solidFill>
                <a:latin typeface="Arial" pitchFamily="34" charset="0"/>
                <a:ea typeface="Arial" pitchFamily="34" charset="-122"/>
                <a:cs typeface="Arial" pitchFamily="34" charset="-120"/>
              </a:rPr>
              <a:t>Legal &amp; Regulatory Briefing</a:t>
            </a:r>
            <a:endParaRPr lang="en-US" sz="2600" dirty="0"/>
          </a:p>
        </p:txBody>
      </p:sp>
      <p:sp>
        <p:nvSpPr>
          <p:cNvPr id="4" name="Text 2"/>
          <p:cNvSpPr/>
          <p:nvPr/>
        </p:nvSpPr>
        <p:spPr>
          <a:xfrm>
            <a:off x="777240" y="3977640"/>
            <a:ext cx="9601200" cy="548640"/>
          </a:xfrm>
          <a:prstGeom prst="rect">
            <a:avLst/>
          </a:prstGeom>
          <a:noFill/>
          <a:ln/>
        </p:spPr>
        <p:txBody>
          <a:bodyPr wrap="square" rtlCol="0" anchor="ctr"/>
          <a:lstStyle/>
          <a:p>
            <a:pPr indent="0" marL="0">
              <a:buNone/>
            </a:pPr>
            <a:r>
              <a:rPr lang="en-US" sz="1500" i="1" dirty="0">
                <a:solidFill>
                  <a:srgbClr val="C9D6D0"/>
                </a:solidFill>
                <a:latin typeface="Arial" pitchFamily="34" charset="0"/>
                <a:ea typeface="Arial" pitchFamily="34" charset="-122"/>
                <a:cs typeface="Arial" pitchFamily="34" charset="-120"/>
              </a:rPr>
              <a:t>A quick orientation to the domain, the product and the regulated surfaces — for Adv. Pranav Bhat &amp; team</a:t>
            </a:r>
            <a:endParaRPr lang="en-US" sz="1500" dirty="0"/>
          </a:p>
        </p:txBody>
      </p:sp>
      <p:sp>
        <p:nvSpPr>
          <p:cNvPr id="5" name="Text 3"/>
          <p:cNvSpPr/>
          <p:nvPr/>
        </p:nvSpPr>
        <p:spPr>
          <a:xfrm>
            <a:off x="777240" y="5943600"/>
            <a:ext cx="9144000" cy="365760"/>
          </a:xfrm>
          <a:prstGeom prst="rect">
            <a:avLst/>
          </a:prstGeom>
          <a:noFill/>
          <a:ln/>
        </p:spPr>
        <p:txBody>
          <a:bodyPr wrap="square" rtlCol="0" anchor="ctr"/>
          <a:lstStyle/>
          <a:p>
            <a:pPr indent="0" marL="0">
              <a:buNone/>
            </a:pPr>
            <a:r>
              <a:rPr lang="en-US" sz="1300" dirty="0">
                <a:solidFill>
                  <a:srgbClr val="8FA69D"/>
                </a:solidFill>
                <a:latin typeface="Arial" pitchFamily="34" charset="0"/>
                <a:ea typeface="Arial" pitchFamily="34" charset="-122"/>
                <a:cs typeface="Arial" pitchFamily="34" charset="-120"/>
              </a:rPr>
              <a:t>Yash Saini · Founder · September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2FBC9B"/>
          </a:solidFill>
          <a:ln/>
        </p:spPr>
      </p:sp>
      <p:sp>
        <p:nvSpPr>
          <p:cNvPr id="3" name="Text 1"/>
          <p:cNvSpPr/>
          <p:nvPr/>
        </p:nvSpPr>
        <p:spPr>
          <a:xfrm>
            <a:off x="640080" y="457200"/>
            <a:ext cx="10972800" cy="640080"/>
          </a:xfrm>
          <a:prstGeom prst="rect">
            <a:avLst/>
          </a:prstGeom>
          <a:noFill/>
          <a:ln/>
        </p:spPr>
        <p:txBody>
          <a:bodyPr wrap="square" rtlCol="0" anchor="ctr"/>
          <a:lstStyle/>
          <a:p>
            <a:pPr indent="0" marL="0">
              <a:buNone/>
            </a:pPr>
            <a:r>
              <a:rPr lang="en-US" sz="2800" b="1" dirty="0">
                <a:solidFill>
                  <a:srgbClr val="0B2F2A"/>
                </a:solidFill>
                <a:latin typeface="Arial" pitchFamily="34" charset="0"/>
                <a:ea typeface="Arial" pitchFamily="34" charset="-122"/>
                <a:cs typeface="Arial" pitchFamily="34" charset="-120"/>
              </a:rPr>
              <a:t>What PayWatch is</a:t>
            </a:r>
            <a:endParaRPr lang="en-US" sz="2800" dirty="0"/>
          </a:p>
        </p:txBody>
      </p:sp>
      <p:sp>
        <p:nvSpPr>
          <p:cNvPr id="4" name="Text 2"/>
          <p:cNvSpPr/>
          <p:nvPr/>
        </p:nvSpPr>
        <p:spPr>
          <a:xfrm>
            <a:off x="640080" y="1463040"/>
            <a:ext cx="7498080" cy="3200400"/>
          </a:xfrm>
          <a:prstGeom prst="rect">
            <a:avLst/>
          </a:prstGeom>
          <a:noFill/>
          <a:ln/>
        </p:spPr>
        <p:txBody>
          <a:bodyPr wrap="square" rtlCol="0" anchor="t"/>
          <a:lstStyle/>
          <a:p>
            <a:pPr indent="0" marL="0">
              <a:lnSpc>
                <a:spcPct val="125000"/>
              </a:lnSpc>
              <a:buNone/>
            </a:pPr>
            <a:r>
              <a:rPr lang="en-US" sz="1800" b="1" dirty="0">
                <a:solidFill>
                  <a:srgbClr val="1A1A1A"/>
                </a:solidFill>
                <a:latin typeface="Arial" pitchFamily="34" charset="0"/>
                <a:ea typeface="Arial" pitchFamily="34" charset="-122"/>
                <a:cs typeface="Arial" pitchFamily="34" charset="-120"/>
              </a:rPr>
              <a:t>A personal-finance app for India — a “financial CFO in your pocket”.
</a:t>
            </a:r>
            <a:pPr indent="0" marL="0">
              <a:lnSpc>
                <a:spcPct val="125000"/>
              </a:lnSpc>
              <a:buNone/>
            </a:pPr>
            <a:r>
              <a:rPr lang="en-US" sz="1600" dirty="0">
                <a:solidFill>
                  <a:srgbClr val="1A1A1A"/>
                </a:solidFill>
                <a:latin typeface="Arial" pitchFamily="34" charset="0"/>
                <a:ea typeface="Arial" pitchFamily="34" charset="-122"/>
                <a:cs typeface="Arial" pitchFamily="34" charset="-120"/>
              </a:rPr>
              <a:t>It brings a person’s ENTIRE financial life into one place — income, spending, savings, investments, insurance and tax — computes a single Money Health Score, and tells them exactly what to do next, in plain language. In future it also lets them ACT on that advice (invest, buy insurance, file tax) in one tap, through licensed partners.</a:t>
            </a:r>
            <a:endParaRPr lang="en-US" sz="1800" dirty="0"/>
          </a:p>
        </p:txBody>
      </p:sp>
      <p:sp>
        <p:nvSpPr>
          <p:cNvPr id="5" name="Shape 3"/>
          <p:cNvSpPr/>
          <p:nvPr/>
        </p:nvSpPr>
        <p:spPr>
          <a:xfrm>
            <a:off x="8412480" y="1554480"/>
            <a:ext cx="3108960" cy="4206240"/>
          </a:xfrm>
          <a:prstGeom prst="roundRect">
            <a:avLst>
              <a:gd name="adj" fmla="val 2941"/>
            </a:avLst>
          </a:prstGeom>
          <a:solidFill>
            <a:srgbClr val="FFFFFF"/>
          </a:solidFill>
          <a:ln w="12700">
            <a:solidFill>
              <a:srgbClr val="E2DED3"/>
            </a:solidFill>
            <a:prstDash val="solid"/>
          </a:ln>
        </p:spPr>
      </p:sp>
      <p:sp>
        <p:nvSpPr>
          <p:cNvPr id="6" name="Text 4"/>
          <p:cNvSpPr/>
          <p:nvPr/>
        </p:nvSpPr>
        <p:spPr>
          <a:xfrm>
            <a:off x="8641080" y="1783080"/>
            <a:ext cx="2743200" cy="365760"/>
          </a:xfrm>
          <a:prstGeom prst="rect">
            <a:avLst/>
          </a:prstGeom>
          <a:noFill/>
          <a:ln/>
        </p:spPr>
        <p:txBody>
          <a:bodyPr wrap="square" rtlCol="0" anchor="ctr"/>
          <a:lstStyle/>
          <a:p>
            <a:pPr indent="0" marL="0">
              <a:buNone/>
            </a:pPr>
            <a:r>
              <a:rPr lang="en-US" sz="1200" b="1" spc="200" kern="0" dirty="0">
                <a:solidFill>
                  <a:srgbClr val="2FBC9B"/>
                </a:solidFill>
                <a:latin typeface="Arial" pitchFamily="34" charset="0"/>
                <a:ea typeface="Arial" pitchFamily="34" charset="-122"/>
                <a:cs typeface="Arial" pitchFamily="34" charset="-120"/>
              </a:rPr>
              <a:t>The one-line</a:t>
            </a:r>
            <a:endParaRPr lang="en-US" sz="1200" dirty="0"/>
          </a:p>
        </p:txBody>
      </p:sp>
      <p:sp>
        <p:nvSpPr>
          <p:cNvPr id="7" name="Text 5"/>
          <p:cNvSpPr/>
          <p:nvPr/>
        </p:nvSpPr>
        <p:spPr>
          <a:xfrm>
            <a:off x="8641080" y="2240280"/>
            <a:ext cx="2697480" cy="2743200"/>
          </a:xfrm>
          <a:prstGeom prst="rect">
            <a:avLst/>
          </a:prstGeom>
          <a:noFill/>
          <a:ln/>
        </p:spPr>
        <p:txBody>
          <a:bodyPr wrap="square" rtlCol="0" anchor="t"/>
          <a:lstStyle/>
          <a:p>
            <a:pPr indent="0" marL="0">
              <a:buNone/>
            </a:pPr>
            <a:r>
              <a:rPr lang="en-US" sz="1700" i="1" dirty="0">
                <a:solidFill>
                  <a:srgbClr val="0B2F2A"/>
                </a:solidFill>
                <a:latin typeface="Arial" pitchFamily="34" charset="0"/>
                <a:ea typeface="Arial" pitchFamily="34" charset="-122"/>
                <a:cs typeface="Arial" pitchFamily="34" charset="-120"/>
              </a:rPr>
              <a:t>“Know where you stand, know what to do, and do it — across your whole financial life.”</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2FBC9B"/>
          </a:solidFill>
          <a:ln/>
        </p:spPr>
      </p:sp>
      <p:sp>
        <p:nvSpPr>
          <p:cNvPr id="3" name="Text 1"/>
          <p:cNvSpPr/>
          <p:nvPr/>
        </p:nvSpPr>
        <p:spPr>
          <a:xfrm>
            <a:off x="640080" y="457200"/>
            <a:ext cx="10972800" cy="640080"/>
          </a:xfrm>
          <a:prstGeom prst="rect">
            <a:avLst/>
          </a:prstGeom>
          <a:noFill/>
          <a:ln/>
        </p:spPr>
        <p:txBody>
          <a:bodyPr wrap="square" rtlCol="0" anchor="ctr"/>
          <a:lstStyle/>
          <a:p>
            <a:pPr indent="0" marL="0">
              <a:buNone/>
            </a:pPr>
            <a:r>
              <a:rPr lang="en-US" sz="2800" b="1" dirty="0">
                <a:solidFill>
                  <a:srgbClr val="0B2F2A"/>
                </a:solidFill>
                <a:latin typeface="Arial" pitchFamily="34" charset="0"/>
                <a:ea typeface="Arial" pitchFamily="34" charset="-122"/>
                <a:cs typeface="Arial" pitchFamily="34" charset="-120"/>
              </a:rPr>
              <a:t>The problem it solves</a:t>
            </a:r>
            <a:endParaRPr lang="en-US" sz="2800" dirty="0"/>
          </a:p>
        </p:txBody>
      </p:sp>
      <p:sp>
        <p:nvSpPr>
          <p:cNvPr id="4" name="Shape 2"/>
          <p:cNvSpPr/>
          <p:nvPr/>
        </p:nvSpPr>
        <p:spPr>
          <a:xfrm>
            <a:off x="640080" y="2011680"/>
            <a:ext cx="3383280" cy="2926080"/>
          </a:xfrm>
          <a:prstGeom prst="roundRect">
            <a:avLst>
              <a:gd name="adj" fmla="val 3125"/>
            </a:avLst>
          </a:prstGeom>
          <a:solidFill>
            <a:srgbClr val="FFFFFF"/>
          </a:solidFill>
          <a:ln w="12700">
            <a:solidFill>
              <a:srgbClr val="E2DED3"/>
            </a:solidFill>
            <a:prstDash val="solid"/>
          </a:ln>
        </p:spPr>
      </p:sp>
      <p:sp>
        <p:nvSpPr>
          <p:cNvPr id="5" name="Text 3"/>
          <p:cNvSpPr/>
          <p:nvPr/>
        </p:nvSpPr>
        <p:spPr>
          <a:xfrm>
            <a:off x="914400" y="2286000"/>
            <a:ext cx="2834640" cy="457200"/>
          </a:xfrm>
          <a:prstGeom prst="rect">
            <a:avLst/>
          </a:prstGeom>
          <a:noFill/>
          <a:ln/>
        </p:spPr>
        <p:txBody>
          <a:bodyPr wrap="square" rtlCol="0" anchor="ctr"/>
          <a:lstStyle/>
          <a:p>
            <a:pPr indent="0" marL="0">
              <a:buNone/>
            </a:pPr>
            <a:r>
              <a:rPr lang="en-US" sz="2000" b="1" dirty="0">
                <a:solidFill>
                  <a:srgbClr val="0B2F2A"/>
                </a:solidFill>
                <a:latin typeface="Arial" pitchFamily="34" charset="0"/>
                <a:ea typeface="Arial" pitchFamily="34" charset="-122"/>
                <a:cs typeface="Arial" pitchFamily="34" charset="-120"/>
              </a:rPr>
              <a:t>Fragmented</a:t>
            </a:r>
            <a:endParaRPr lang="en-US" sz="2000" dirty="0"/>
          </a:p>
        </p:txBody>
      </p:sp>
      <p:sp>
        <p:nvSpPr>
          <p:cNvPr id="6" name="Text 4"/>
          <p:cNvSpPr/>
          <p:nvPr/>
        </p:nvSpPr>
        <p:spPr>
          <a:xfrm>
            <a:off x="914400" y="2880360"/>
            <a:ext cx="2834640" cy="1828800"/>
          </a:xfrm>
          <a:prstGeom prst="rect">
            <a:avLst/>
          </a:prstGeom>
          <a:noFill/>
          <a:ln/>
        </p:spPr>
        <p:txBody>
          <a:bodyPr wrap="square" rtlCol="0" anchor="t"/>
          <a:lstStyle/>
          <a:p>
            <a:pPr indent="0" marL="0">
              <a:lnSpc>
                <a:spcPct val="120000"/>
              </a:lnSpc>
              <a:buNone/>
            </a:pPr>
            <a:r>
              <a:rPr lang="en-US" sz="1400" dirty="0">
                <a:solidFill>
                  <a:srgbClr val="55605B"/>
                </a:solidFill>
                <a:latin typeface="Arial" pitchFamily="34" charset="0"/>
                <a:ea typeface="Arial" pitchFamily="34" charset="-122"/>
                <a:cs typeface="Arial" pitchFamily="34" charset="-120"/>
              </a:rPr>
              <a:t>Money is scattered across bank, UPI, mutual funds, insurance and tax portals — no single view.</a:t>
            </a:r>
            <a:endParaRPr lang="en-US" sz="1400" dirty="0"/>
          </a:p>
        </p:txBody>
      </p:sp>
      <p:sp>
        <p:nvSpPr>
          <p:cNvPr id="7" name="Shape 5"/>
          <p:cNvSpPr/>
          <p:nvPr/>
        </p:nvSpPr>
        <p:spPr>
          <a:xfrm>
            <a:off x="4343400" y="2011680"/>
            <a:ext cx="3383280" cy="2926080"/>
          </a:xfrm>
          <a:prstGeom prst="roundRect">
            <a:avLst>
              <a:gd name="adj" fmla="val 3125"/>
            </a:avLst>
          </a:prstGeom>
          <a:solidFill>
            <a:srgbClr val="FFFFFF"/>
          </a:solidFill>
          <a:ln w="12700">
            <a:solidFill>
              <a:srgbClr val="E2DED3"/>
            </a:solidFill>
            <a:prstDash val="solid"/>
          </a:ln>
        </p:spPr>
      </p:sp>
      <p:sp>
        <p:nvSpPr>
          <p:cNvPr id="8" name="Text 6"/>
          <p:cNvSpPr/>
          <p:nvPr/>
        </p:nvSpPr>
        <p:spPr>
          <a:xfrm>
            <a:off x="4617720" y="2286000"/>
            <a:ext cx="2834640" cy="457200"/>
          </a:xfrm>
          <a:prstGeom prst="rect">
            <a:avLst/>
          </a:prstGeom>
          <a:noFill/>
          <a:ln/>
        </p:spPr>
        <p:txBody>
          <a:bodyPr wrap="square" rtlCol="0" anchor="ctr"/>
          <a:lstStyle/>
          <a:p>
            <a:pPr indent="0" marL="0">
              <a:buNone/>
            </a:pPr>
            <a:r>
              <a:rPr lang="en-US" sz="2000" b="1" dirty="0">
                <a:solidFill>
                  <a:srgbClr val="0B2F2A"/>
                </a:solidFill>
                <a:latin typeface="Arial" pitchFamily="34" charset="0"/>
                <a:ea typeface="Arial" pitchFamily="34" charset="-122"/>
                <a:cs typeface="Arial" pitchFamily="34" charset="-120"/>
              </a:rPr>
              <a:t>Unguided</a:t>
            </a:r>
            <a:endParaRPr lang="en-US" sz="2000" dirty="0"/>
          </a:p>
        </p:txBody>
      </p:sp>
      <p:sp>
        <p:nvSpPr>
          <p:cNvPr id="9" name="Text 7"/>
          <p:cNvSpPr/>
          <p:nvPr/>
        </p:nvSpPr>
        <p:spPr>
          <a:xfrm>
            <a:off x="4617720" y="2880360"/>
            <a:ext cx="2834640" cy="1828800"/>
          </a:xfrm>
          <a:prstGeom prst="rect">
            <a:avLst/>
          </a:prstGeom>
          <a:noFill/>
          <a:ln/>
        </p:spPr>
        <p:txBody>
          <a:bodyPr wrap="square" rtlCol="0" anchor="t"/>
          <a:lstStyle/>
          <a:p>
            <a:pPr indent="0" marL="0">
              <a:lnSpc>
                <a:spcPct val="120000"/>
              </a:lnSpc>
              <a:buNone/>
            </a:pPr>
            <a:r>
              <a:rPr lang="en-US" sz="1400" dirty="0">
                <a:solidFill>
                  <a:srgbClr val="55605B"/>
                </a:solidFill>
                <a:latin typeface="Arial" pitchFamily="34" charset="0"/>
                <a:ea typeface="Arial" pitchFamily="34" charset="-122"/>
                <a:cs typeface="Arial" pitchFamily="34" charset="-120"/>
              </a:rPr>
              <a:t>Professional advice (a CA, an advisor) is expensive or intimidating for most people.</a:t>
            </a:r>
            <a:endParaRPr lang="en-US" sz="1400" dirty="0"/>
          </a:p>
        </p:txBody>
      </p:sp>
      <p:sp>
        <p:nvSpPr>
          <p:cNvPr id="10" name="Shape 8"/>
          <p:cNvSpPr/>
          <p:nvPr/>
        </p:nvSpPr>
        <p:spPr>
          <a:xfrm>
            <a:off x="8046720" y="2011680"/>
            <a:ext cx="3383280" cy="2926080"/>
          </a:xfrm>
          <a:prstGeom prst="roundRect">
            <a:avLst>
              <a:gd name="adj" fmla="val 3125"/>
            </a:avLst>
          </a:prstGeom>
          <a:solidFill>
            <a:srgbClr val="FFFFFF"/>
          </a:solidFill>
          <a:ln w="12700">
            <a:solidFill>
              <a:srgbClr val="E2DED3"/>
            </a:solidFill>
            <a:prstDash val="solid"/>
          </a:ln>
        </p:spPr>
      </p:sp>
      <p:sp>
        <p:nvSpPr>
          <p:cNvPr id="11" name="Text 9"/>
          <p:cNvSpPr/>
          <p:nvPr/>
        </p:nvSpPr>
        <p:spPr>
          <a:xfrm>
            <a:off x="8321040" y="2286000"/>
            <a:ext cx="2834640" cy="457200"/>
          </a:xfrm>
          <a:prstGeom prst="rect">
            <a:avLst/>
          </a:prstGeom>
          <a:noFill/>
          <a:ln/>
        </p:spPr>
        <p:txBody>
          <a:bodyPr wrap="square" rtlCol="0" anchor="ctr"/>
          <a:lstStyle/>
          <a:p>
            <a:pPr indent="0" marL="0">
              <a:buNone/>
            </a:pPr>
            <a:r>
              <a:rPr lang="en-US" sz="2000" b="1" dirty="0">
                <a:solidFill>
                  <a:srgbClr val="0B2F2A"/>
                </a:solidFill>
                <a:latin typeface="Arial" pitchFamily="34" charset="0"/>
                <a:ea typeface="Arial" pitchFamily="34" charset="-122"/>
                <a:cs typeface="Arial" pitchFamily="34" charset="-120"/>
              </a:rPr>
              <a:t>Costly inaction</a:t>
            </a:r>
            <a:endParaRPr lang="en-US" sz="2000" dirty="0"/>
          </a:p>
        </p:txBody>
      </p:sp>
      <p:sp>
        <p:nvSpPr>
          <p:cNvPr id="12" name="Text 10"/>
          <p:cNvSpPr/>
          <p:nvPr/>
        </p:nvSpPr>
        <p:spPr>
          <a:xfrm>
            <a:off x="8321040" y="2880360"/>
            <a:ext cx="2834640" cy="1828800"/>
          </a:xfrm>
          <a:prstGeom prst="rect">
            <a:avLst/>
          </a:prstGeom>
          <a:noFill/>
          <a:ln/>
        </p:spPr>
        <p:txBody>
          <a:bodyPr wrap="square" rtlCol="0" anchor="t"/>
          <a:lstStyle/>
          <a:p>
            <a:pPr indent="0" marL="0">
              <a:lnSpc>
                <a:spcPct val="120000"/>
              </a:lnSpc>
              <a:buNone/>
            </a:pPr>
            <a:r>
              <a:rPr lang="en-US" sz="1400" dirty="0">
                <a:solidFill>
                  <a:srgbClr val="55605B"/>
                </a:solidFill>
                <a:latin typeface="Arial" pitchFamily="34" charset="0"/>
                <a:ea typeface="Arial" pitchFamily="34" charset="-122"/>
                <a:cs typeface="Arial" pitchFamily="34" charset="-120"/>
              </a:rPr>
              <a:t>So people under-invest, stay under-insured and overpay tax — losing years of compounding.</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2FBC9B"/>
          </a:solidFill>
          <a:ln/>
        </p:spPr>
      </p:sp>
      <p:sp>
        <p:nvSpPr>
          <p:cNvPr id="3" name="Text 1"/>
          <p:cNvSpPr/>
          <p:nvPr/>
        </p:nvSpPr>
        <p:spPr>
          <a:xfrm>
            <a:off x="640080" y="457200"/>
            <a:ext cx="10972800" cy="640080"/>
          </a:xfrm>
          <a:prstGeom prst="rect">
            <a:avLst/>
          </a:prstGeom>
          <a:noFill/>
          <a:ln/>
        </p:spPr>
        <p:txBody>
          <a:bodyPr wrap="square" rtlCol="0" anchor="ctr"/>
          <a:lstStyle/>
          <a:p>
            <a:pPr indent="0" marL="0">
              <a:buNone/>
            </a:pPr>
            <a:r>
              <a:rPr lang="en-US" sz="2800" b="1" dirty="0">
                <a:solidFill>
                  <a:srgbClr val="0B2F2A"/>
                </a:solidFill>
                <a:latin typeface="Arial" pitchFamily="34" charset="0"/>
                <a:ea typeface="Arial" pitchFamily="34" charset="-122"/>
                <a:cs typeface="Arial" pitchFamily="34" charset="-120"/>
              </a:rPr>
              <a:t>What the product does today</a:t>
            </a:r>
            <a:endParaRPr lang="en-US" sz="2800" dirty="0"/>
          </a:p>
        </p:txBody>
      </p:sp>
      <p:sp>
        <p:nvSpPr>
          <p:cNvPr id="4" name="Shape 2"/>
          <p:cNvSpPr/>
          <p:nvPr/>
        </p:nvSpPr>
        <p:spPr>
          <a:xfrm>
            <a:off x="640080" y="1554480"/>
            <a:ext cx="5303520" cy="1234440"/>
          </a:xfrm>
          <a:prstGeom prst="roundRect">
            <a:avLst>
              <a:gd name="adj" fmla="val 5926"/>
            </a:avLst>
          </a:prstGeom>
          <a:solidFill>
            <a:srgbClr val="FFFFFF"/>
          </a:solidFill>
          <a:ln w="12700">
            <a:solidFill>
              <a:srgbClr val="E2DED3"/>
            </a:solidFill>
            <a:prstDash val="solid"/>
          </a:ln>
        </p:spPr>
      </p:sp>
      <p:sp>
        <p:nvSpPr>
          <p:cNvPr id="5" name="Text 3"/>
          <p:cNvSpPr/>
          <p:nvPr/>
        </p:nvSpPr>
        <p:spPr>
          <a:xfrm>
            <a:off x="914400" y="1719072"/>
            <a:ext cx="4754880" cy="365760"/>
          </a:xfrm>
          <a:prstGeom prst="rect">
            <a:avLst/>
          </a:prstGeom>
          <a:noFill/>
          <a:ln/>
        </p:spPr>
        <p:txBody>
          <a:bodyPr wrap="square" rtlCol="0" anchor="ctr"/>
          <a:lstStyle/>
          <a:p>
            <a:pPr indent="0" marL="0">
              <a:buNone/>
            </a:pPr>
            <a:r>
              <a:rPr lang="en-US" sz="1600" b="1" dirty="0">
                <a:solidFill>
                  <a:srgbClr val="0B2F2A"/>
                </a:solidFill>
                <a:latin typeface="Arial" pitchFamily="34" charset="0"/>
                <a:ea typeface="Arial" pitchFamily="34" charset="-122"/>
                <a:cs typeface="Arial" pitchFamily="34" charset="-120"/>
              </a:rPr>
              <a:t>Money Health Score</a:t>
            </a:r>
            <a:endParaRPr lang="en-US" sz="1600" dirty="0"/>
          </a:p>
        </p:txBody>
      </p:sp>
      <p:sp>
        <p:nvSpPr>
          <p:cNvPr id="6" name="Text 4"/>
          <p:cNvSpPr/>
          <p:nvPr/>
        </p:nvSpPr>
        <p:spPr>
          <a:xfrm>
            <a:off x="914400" y="2121408"/>
            <a:ext cx="4754880" cy="548640"/>
          </a:xfrm>
          <a:prstGeom prst="rect">
            <a:avLst/>
          </a:prstGeom>
          <a:noFill/>
          <a:ln/>
        </p:spPr>
        <p:txBody>
          <a:bodyPr wrap="square" rtlCol="0" anchor="t"/>
          <a:lstStyle/>
          <a:p>
            <a:pPr indent="0" marL="0">
              <a:buNone/>
            </a:pPr>
            <a:r>
              <a:rPr lang="en-US" sz="1250" dirty="0">
                <a:solidFill>
                  <a:srgbClr val="55605B"/>
                </a:solidFill>
                <a:latin typeface="Arial" pitchFamily="34" charset="0"/>
                <a:ea typeface="Arial" pitchFamily="34" charset="-122"/>
                <a:cs typeface="Arial" pitchFamily="34" charset="-120"/>
              </a:rPr>
              <a:t>one score across 6 dimensions of financial health</a:t>
            </a:r>
            <a:endParaRPr lang="en-US" sz="1250" dirty="0"/>
          </a:p>
        </p:txBody>
      </p:sp>
      <p:sp>
        <p:nvSpPr>
          <p:cNvPr id="7" name="Shape 5"/>
          <p:cNvSpPr/>
          <p:nvPr/>
        </p:nvSpPr>
        <p:spPr>
          <a:xfrm>
            <a:off x="6217920" y="1554480"/>
            <a:ext cx="5303520" cy="1234440"/>
          </a:xfrm>
          <a:prstGeom prst="roundRect">
            <a:avLst>
              <a:gd name="adj" fmla="val 5926"/>
            </a:avLst>
          </a:prstGeom>
          <a:solidFill>
            <a:srgbClr val="FFFFFF"/>
          </a:solidFill>
          <a:ln w="12700">
            <a:solidFill>
              <a:srgbClr val="E2DED3"/>
            </a:solidFill>
            <a:prstDash val="solid"/>
          </a:ln>
        </p:spPr>
      </p:sp>
      <p:sp>
        <p:nvSpPr>
          <p:cNvPr id="8" name="Text 6"/>
          <p:cNvSpPr/>
          <p:nvPr/>
        </p:nvSpPr>
        <p:spPr>
          <a:xfrm>
            <a:off x="6492240" y="1719072"/>
            <a:ext cx="4754880" cy="365760"/>
          </a:xfrm>
          <a:prstGeom prst="rect">
            <a:avLst/>
          </a:prstGeom>
          <a:noFill/>
          <a:ln/>
        </p:spPr>
        <p:txBody>
          <a:bodyPr wrap="square" rtlCol="0" anchor="ctr"/>
          <a:lstStyle/>
          <a:p>
            <a:pPr indent="0" marL="0">
              <a:buNone/>
            </a:pPr>
            <a:r>
              <a:rPr lang="en-US" sz="1600" b="1" dirty="0">
                <a:solidFill>
                  <a:srgbClr val="0B2F2A"/>
                </a:solidFill>
                <a:latin typeface="Arial" pitchFamily="34" charset="0"/>
                <a:ea typeface="Arial" pitchFamily="34" charset="-122"/>
                <a:cs typeface="Arial" pitchFamily="34" charset="-120"/>
              </a:rPr>
              <a:t>Tax computation</a:t>
            </a:r>
            <a:endParaRPr lang="en-US" sz="1600" dirty="0"/>
          </a:p>
        </p:txBody>
      </p:sp>
      <p:sp>
        <p:nvSpPr>
          <p:cNvPr id="9" name="Text 7"/>
          <p:cNvSpPr/>
          <p:nvPr/>
        </p:nvSpPr>
        <p:spPr>
          <a:xfrm>
            <a:off x="6492240" y="2121408"/>
            <a:ext cx="4754880" cy="548640"/>
          </a:xfrm>
          <a:prstGeom prst="rect">
            <a:avLst/>
          </a:prstGeom>
          <a:noFill/>
          <a:ln/>
        </p:spPr>
        <p:txBody>
          <a:bodyPr wrap="square" rtlCol="0" anchor="t"/>
          <a:lstStyle/>
          <a:p>
            <a:pPr indent="0" marL="0">
              <a:buNone/>
            </a:pPr>
            <a:r>
              <a:rPr lang="en-US" sz="1250" dirty="0">
                <a:solidFill>
                  <a:srgbClr val="55605B"/>
                </a:solidFill>
                <a:latin typeface="Arial" pitchFamily="34" charset="0"/>
                <a:ea typeface="Arial" pitchFamily="34" charset="-122"/>
                <a:cs typeface="Arial" pitchFamily="34" charset="-120"/>
              </a:rPr>
              <a:t>full ITR computed; guides self-filing on the govt portal</a:t>
            </a:r>
            <a:endParaRPr lang="en-US" sz="1250" dirty="0"/>
          </a:p>
        </p:txBody>
      </p:sp>
      <p:sp>
        <p:nvSpPr>
          <p:cNvPr id="10" name="Shape 8"/>
          <p:cNvSpPr/>
          <p:nvPr/>
        </p:nvSpPr>
        <p:spPr>
          <a:xfrm>
            <a:off x="640080" y="2971800"/>
            <a:ext cx="5303520" cy="1234440"/>
          </a:xfrm>
          <a:prstGeom prst="roundRect">
            <a:avLst>
              <a:gd name="adj" fmla="val 5926"/>
            </a:avLst>
          </a:prstGeom>
          <a:solidFill>
            <a:srgbClr val="FFFFFF"/>
          </a:solidFill>
          <a:ln w="12700">
            <a:solidFill>
              <a:srgbClr val="E2DED3"/>
            </a:solidFill>
            <a:prstDash val="solid"/>
          </a:ln>
        </p:spPr>
      </p:sp>
      <p:sp>
        <p:nvSpPr>
          <p:cNvPr id="11" name="Text 9"/>
          <p:cNvSpPr/>
          <p:nvPr/>
        </p:nvSpPr>
        <p:spPr>
          <a:xfrm>
            <a:off x="914400" y="3136392"/>
            <a:ext cx="4754880" cy="365760"/>
          </a:xfrm>
          <a:prstGeom prst="rect">
            <a:avLst/>
          </a:prstGeom>
          <a:noFill/>
          <a:ln/>
        </p:spPr>
        <p:txBody>
          <a:bodyPr wrap="square" rtlCol="0" anchor="ctr"/>
          <a:lstStyle/>
          <a:p>
            <a:pPr indent="0" marL="0">
              <a:buNone/>
            </a:pPr>
            <a:r>
              <a:rPr lang="en-US" sz="1600" b="1" dirty="0">
                <a:solidFill>
                  <a:srgbClr val="0B2F2A"/>
                </a:solidFill>
                <a:latin typeface="Arial" pitchFamily="34" charset="0"/>
                <a:ea typeface="Arial" pitchFamily="34" charset="-122"/>
                <a:cs typeface="Arial" pitchFamily="34" charset="-120"/>
              </a:rPr>
              <a:t>Investment guidance</a:t>
            </a:r>
            <a:endParaRPr lang="en-US" sz="1600" dirty="0"/>
          </a:p>
        </p:txBody>
      </p:sp>
      <p:sp>
        <p:nvSpPr>
          <p:cNvPr id="12" name="Text 10"/>
          <p:cNvSpPr/>
          <p:nvPr/>
        </p:nvSpPr>
        <p:spPr>
          <a:xfrm>
            <a:off x="914400" y="3538728"/>
            <a:ext cx="4754880" cy="548640"/>
          </a:xfrm>
          <a:prstGeom prst="rect">
            <a:avLst/>
          </a:prstGeom>
          <a:noFill/>
          <a:ln/>
        </p:spPr>
        <p:txBody>
          <a:bodyPr wrap="square" rtlCol="0" anchor="t"/>
          <a:lstStyle/>
          <a:p>
            <a:pPr indent="0" marL="0">
              <a:buNone/>
            </a:pPr>
            <a:r>
              <a:rPr lang="en-US" sz="1250" dirty="0">
                <a:solidFill>
                  <a:srgbClr val="55605B"/>
                </a:solidFill>
                <a:latin typeface="Arial" pitchFamily="34" charset="0"/>
                <a:ea typeface="Arial" pitchFamily="34" charset="-122"/>
                <a:cs typeface="Arial" pitchFamily="34" charset="-120"/>
              </a:rPr>
              <a:t>asset-class / category education (no product named yet)</a:t>
            </a:r>
            <a:endParaRPr lang="en-US" sz="1250" dirty="0"/>
          </a:p>
        </p:txBody>
      </p:sp>
      <p:sp>
        <p:nvSpPr>
          <p:cNvPr id="13" name="Shape 11"/>
          <p:cNvSpPr/>
          <p:nvPr/>
        </p:nvSpPr>
        <p:spPr>
          <a:xfrm>
            <a:off x="6217920" y="2971800"/>
            <a:ext cx="5303520" cy="1234440"/>
          </a:xfrm>
          <a:prstGeom prst="roundRect">
            <a:avLst>
              <a:gd name="adj" fmla="val 5926"/>
            </a:avLst>
          </a:prstGeom>
          <a:solidFill>
            <a:srgbClr val="FFFFFF"/>
          </a:solidFill>
          <a:ln w="12700">
            <a:solidFill>
              <a:srgbClr val="E2DED3"/>
            </a:solidFill>
            <a:prstDash val="solid"/>
          </a:ln>
        </p:spPr>
      </p:sp>
      <p:sp>
        <p:nvSpPr>
          <p:cNvPr id="14" name="Text 12"/>
          <p:cNvSpPr/>
          <p:nvPr/>
        </p:nvSpPr>
        <p:spPr>
          <a:xfrm>
            <a:off x="6492240" y="3136392"/>
            <a:ext cx="4754880" cy="365760"/>
          </a:xfrm>
          <a:prstGeom prst="rect">
            <a:avLst/>
          </a:prstGeom>
          <a:noFill/>
          <a:ln/>
        </p:spPr>
        <p:txBody>
          <a:bodyPr wrap="square" rtlCol="0" anchor="ctr"/>
          <a:lstStyle/>
          <a:p>
            <a:pPr indent="0" marL="0">
              <a:buNone/>
            </a:pPr>
            <a:r>
              <a:rPr lang="en-US" sz="1600" b="1" dirty="0">
                <a:solidFill>
                  <a:srgbClr val="0B2F2A"/>
                </a:solidFill>
                <a:latin typeface="Arial" pitchFamily="34" charset="0"/>
                <a:ea typeface="Arial" pitchFamily="34" charset="-122"/>
                <a:cs typeface="Arial" pitchFamily="34" charset="-120"/>
              </a:rPr>
              <a:t>Insurance analysis</a:t>
            </a:r>
            <a:endParaRPr lang="en-US" sz="1600" dirty="0"/>
          </a:p>
        </p:txBody>
      </p:sp>
      <p:sp>
        <p:nvSpPr>
          <p:cNvPr id="15" name="Text 13"/>
          <p:cNvSpPr/>
          <p:nvPr/>
        </p:nvSpPr>
        <p:spPr>
          <a:xfrm>
            <a:off x="6492240" y="3538728"/>
            <a:ext cx="4754880" cy="548640"/>
          </a:xfrm>
          <a:prstGeom prst="rect">
            <a:avLst/>
          </a:prstGeom>
          <a:noFill/>
          <a:ln/>
        </p:spPr>
        <p:txBody>
          <a:bodyPr wrap="square" rtlCol="0" anchor="t"/>
          <a:lstStyle/>
          <a:p>
            <a:pPr indent="0" marL="0">
              <a:buNone/>
            </a:pPr>
            <a:r>
              <a:rPr lang="en-US" sz="1250" dirty="0">
                <a:solidFill>
                  <a:srgbClr val="55605B"/>
                </a:solidFill>
                <a:latin typeface="Arial" pitchFamily="34" charset="0"/>
                <a:ea typeface="Arial" pitchFamily="34" charset="-122"/>
                <a:cs typeface="Arial" pitchFamily="34" charset="-120"/>
              </a:rPr>
              <a:t>cover-gap analysis + compare (intent-only, no sale yet)</a:t>
            </a:r>
            <a:endParaRPr lang="en-US" sz="1250" dirty="0"/>
          </a:p>
        </p:txBody>
      </p:sp>
      <p:sp>
        <p:nvSpPr>
          <p:cNvPr id="16" name="Shape 14"/>
          <p:cNvSpPr/>
          <p:nvPr/>
        </p:nvSpPr>
        <p:spPr>
          <a:xfrm>
            <a:off x="640080" y="4389120"/>
            <a:ext cx="5303520" cy="1234440"/>
          </a:xfrm>
          <a:prstGeom prst="roundRect">
            <a:avLst>
              <a:gd name="adj" fmla="val 5926"/>
            </a:avLst>
          </a:prstGeom>
          <a:solidFill>
            <a:srgbClr val="FFFFFF"/>
          </a:solidFill>
          <a:ln w="12700">
            <a:solidFill>
              <a:srgbClr val="E2DED3"/>
            </a:solidFill>
            <a:prstDash val="solid"/>
          </a:ln>
        </p:spPr>
      </p:sp>
      <p:sp>
        <p:nvSpPr>
          <p:cNvPr id="17" name="Text 15"/>
          <p:cNvSpPr/>
          <p:nvPr/>
        </p:nvSpPr>
        <p:spPr>
          <a:xfrm>
            <a:off x="914400" y="4553712"/>
            <a:ext cx="4754880" cy="365760"/>
          </a:xfrm>
          <a:prstGeom prst="rect">
            <a:avLst/>
          </a:prstGeom>
          <a:noFill/>
          <a:ln/>
        </p:spPr>
        <p:txBody>
          <a:bodyPr wrap="square" rtlCol="0" anchor="ctr"/>
          <a:lstStyle/>
          <a:p>
            <a:pPr indent="0" marL="0">
              <a:buNone/>
            </a:pPr>
            <a:r>
              <a:rPr lang="en-US" sz="1600" b="1" dirty="0">
                <a:solidFill>
                  <a:srgbClr val="0B2F2A"/>
                </a:solidFill>
                <a:latin typeface="Arial" pitchFamily="34" charset="0"/>
                <a:ea typeface="Arial" pitchFamily="34" charset="-122"/>
                <a:cs typeface="Arial" pitchFamily="34" charset="-120"/>
              </a:rPr>
              <a:t>Ask PayWatch (AI)</a:t>
            </a:r>
            <a:endParaRPr lang="en-US" sz="1600" dirty="0"/>
          </a:p>
        </p:txBody>
      </p:sp>
      <p:sp>
        <p:nvSpPr>
          <p:cNvPr id="18" name="Text 16"/>
          <p:cNvSpPr/>
          <p:nvPr/>
        </p:nvSpPr>
        <p:spPr>
          <a:xfrm>
            <a:off x="914400" y="4956048"/>
            <a:ext cx="4754880" cy="548640"/>
          </a:xfrm>
          <a:prstGeom prst="rect">
            <a:avLst/>
          </a:prstGeom>
          <a:noFill/>
          <a:ln/>
        </p:spPr>
        <p:txBody>
          <a:bodyPr wrap="square" rtlCol="0" anchor="t"/>
          <a:lstStyle/>
          <a:p>
            <a:pPr indent="0" marL="0">
              <a:buNone/>
            </a:pPr>
            <a:r>
              <a:rPr lang="en-US" sz="1250" dirty="0">
                <a:solidFill>
                  <a:srgbClr val="55605B"/>
                </a:solidFill>
                <a:latin typeface="Arial" pitchFamily="34" charset="0"/>
                <a:ea typeface="Arial" pitchFamily="34" charset="-122"/>
                <a:cs typeface="Arial" pitchFamily="34" charset="-120"/>
              </a:rPr>
              <a:t>an AI advisor grounded in the user’s own numbers</a:t>
            </a:r>
            <a:endParaRPr lang="en-US" sz="1250" dirty="0"/>
          </a:p>
        </p:txBody>
      </p:sp>
      <p:sp>
        <p:nvSpPr>
          <p:cNvPr id="19" name="Shape 17"/>
          <p:cNvSpPr/>
          <p:nvPr/>
        </p:nvSpPr>
        <p:spPr>
          <a:xfrm>
            <a:off x="6217920" y="4389120"/>
            <a:ext cx="5303520" cy="1234440"/>
          </a:xfrm>
          <a:prstGeom prst="roundRect">
            <a:avLst>
              <a:gd name="adj" fmla="val 5926"/>
            </a:avLst>
          </a:prstGeom>
          <a:solidFill>
            <a:srgbClr val="FFFFFF"/>
          </a:solidFill>
          <a:ln w="12700">
            <a:solidFill>
              <a:srgbClr val="E2DED3"/>
            </a:solidFill>
            <a:prstDash val="solid"/>
          </a:ln>
        </p:spPr>
      </p:sp>
      <p:sp>
        <p:nvSpPr>
          <p:cNvPr id="20" name="Text 18"/>
          <p:cNvSpPr/>
          <p:nvPr/>
        </p:nvSpPr>
        <p:spPr>
          <a:xfrm>
            <a:off x="6492240" y="4553712"/>
            <a:ext cx="4754880" cy="365760"/>
          </a:xfrm>
          <a:prstGeom prst="rect">
            <a:avLst/>
          </a:prstGeom>
          <a:noFill/>
          <a:ln/>
        </p:spPr>
        <p:txBody>
          <a:bodyPr wrap="square" rtlCol="0" anchor="ctr"/>
          <a:lstStyle/>
          <a:p>
            <a:pPr indent="0" marL="0">
              <a:buNone/>
            </a:pPr>
            <a:r>
              <a:rPr lang="en-US" sz="1600" b="1" dirty="0">
                <a:solidFill>
                  <a:srgbClr val="0B2F2A"/>
                </a:solidFill>
                <a:latin typeface="Arial" pitchFamily="34" charset="0"/>
                <a:ea typeface="Arial" pitchFamily="34" charset="-122"/>
                <a:cs typeface="Arial" pitchFamily="34" charset="-120"/>
              </a:rPr>
              <a:t>Docs &amp; records</a:t>
            </a:r>
            <a:endParaRPr lang="en-US" sz="1600" dirty="0"/>
          </a:p>
        </p:txBody>
      </p:sp>
      <p:sp>
        <p:nvSpPr>
          <p:cNvPr id="21" name="Text 19"/>
          <p:cNvSpPr/>
          <p:nvPr/>
        </p:nvSpPr>
        <p:spPr>
          <a:xfrm>
            <a:off x="6492240" y="4956048"/>
            <a:ext cx="4754880" cy="548640"/>
          </a:xfrm>
          <a:prstGeom prst="rect">
            <a:avLst/>
          </a:prstGeom>
          <a:noFill/>
          <a:ln/>
        </p:spPr>
        <p:txBody>
          <a:bodyPr wrap="square" rtlCol="0" anchor="t"/>
          <a:lstStyle/>
          <a:p>
            <a:pPr indent="0" marL="0">
              <a:buNone/>
            </a:pPr>
            <a:r>
              <a:rPr lang="en-US" sz="1250" dirty="0">
                <a:solidFill>
                  <a:srgbClr val="55605B"/>
                </a:solidFill>
                <a:latin typeface="Arial" pitchFamily="34" charset="0"/>
                <a:ea typeface="Arial" pitchFamily="34" charset="-122"/>
                <a:cs typeface="Arial" pitchFamily="34" charset="-120"/>
              </a:rPr>
              <a:t>encrypted vault, statement scan, CA-ready packs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2FBC9B"/>
          </a:solidFill>
          <a:ln/>
        </p:spPr>
      </p:sp>
      <p:sp>
        <p:nvSpPr>
          <p:cNvPr id="3" name="Text 1"/>
          <p:cNvSpPr/>
          <p:nvPr/>
        </p:nvSpPr>
        <p:spPr>
          <a:xfrm>
            <a:off x="640080" y="457200"/>
            <a:ext cx="10972800" cy="640080"/>
          </a:xfrm>
          <a:prstGeom prst="rect">
            <a:avLst/>
          </a:prstGeom>
          <a:noFill/>
          <a:ln/>
        </p:spPr>
        <p:txBody>
          <a:bodyPr wrap="square" rtlCol="0" anchor="ctr"/>
          <a:lstStyle/>
          <a:p>
            <a:pPr indent="0" marL="0">
              <a:buNone/>
            </a:pPr>
            <a:r>
              <a:rPr lang="en-US" sz="2800" b="1" dirty="0">
                <a:solidFill>
                  <a:srgbClr val="0B2F2A"/>
                </a:solidFill>
                <a:latin typeface="Arial" pitchFamily="34" charset="0"/>
                <a:ea typeface="Arial" pitchFamily="34" charset="-122"/>
                <a:cs typeface="Arial" pitchFamily="34" charset="-120"/>
              </a:rPr>
              <a:t>The regulated surfaces — who governs what</a:t>
            </a:r>
            <a:endParaRPr lang="en-US" sz="2800" dirty="0"/>
          </a:p>
        </p:txBody>
      </p:sp>
      <p:sp>
        <p:nvSpPr>
          <p:cNvPr id="4" name="Text 2"/>
          <p:cNvSpPr/>
          <p:nvPr/>
        </p:nvSpPr>
        <p:spPr>
          <a:xfrm>
            <a:off x="640080" y="1554480"/>
            <a:ext cx="4754880" cy="365760"/>
          </a:xfrm>
          <a:prstGeom prst="rect">
            <a:avLst/>
          </a:prstGeom>
          <a:noFill/>
          <a:ln/>
        </p:spPr>
        <p:txBody>
          <a:bodyPr wrap="square" rtlCol="0" anchor="ctr"/>
          <a:lstStyle/>
          <a:p>
            <a:pPr indent="0" marL="0">
              <a:buNone/>
            </a:pPr>
            <a:r>
              <a:rPr lang="en-US" sz="1200" b="1" dirty="0">
                <a:solidFill>
                  <a:srgbClr val="2FBC9B"/>
                </a:solidFill>
                <a:latin typeface="Arial" pitchFamily="34" charset="0"/>
                <a:ea typeface="Arial" pitchFamily="34" charset="-122"/>
                <a:cs typeface="Arial" pitchFamily="34" charset="-120"/>
              </a:rPr>
              <a:t>Surface</a:t>
            </a:r>
            <a:endParaRPr lang="en-US" sz="1200" dirty="0"/>
          </a:p>
        </p:txBody>
      </p:sp>
      <p:sp>
        <p:nvSpPr>
          <p:cNvPr id="5" name="Text 3"/>
          <p:cNvSpPr/>
          <p:nvPr/>
        </p:nvSpPr>
        <p:spPr>
          <a:xfrm>
            <a:off x="5486400" y="1554480"/>
            <a:ext cx="2743200" cy="365760"/>
          </a:xfrm>
          <a:prstGeom prst="rect">
            <a:avLst/>
          </a:prstGeom>
          <a:noFill/>
          <a:ln/>
        </p:spPr>
        <p:txBody>
          <a:bodyPr wrap="square" rtlCol="0" anchor="ctr"/>
          <a:lstStyle/>
          <a:p>
            <a:pPr indent="0" marL="0">
              <a:buNone/>
            </a:pPr>
            <a:r>
              <a:rPr lang="en-US" sz="1200" b="1" dirty="0">
                <a:solidFill>
                  <a:srgbClr val="2FBC9B"/>
                </a:solidFill>
                <a:latin typeface="Arial" pitchFamily="34" charset="0"/>
                <a:ea typeface="Arial" pitchFamily="34" charset="-122"/>
                <a:cs typeface="Arial" pitchFamily="34" charset="-120"/>
              </a:rPr>
              <a:t>Regulator</a:t>
            </a:r>
            <a:endParaRPr lang="en-US" sz="1200" dirty="0"/>
          </a:p>
        </p:txBody>
      </p:sp>
      <p:sp>
        <p:nvSpPr>
          <p:cNvPr id="6" name="Text 4"/>
          <p:cNvSpPr/>
          <p:nvPr/>
        </p:nvSpPr>
        <p:spPr>
          <a:xfrm>
            <a:off x="8412480" y="1554480"/>
            <a:ext cx="3108960" cy="365760"/>
          </a:xfrm>
          <a:prstGeom prst="rect">
            <a:avLst/>
          </a:prstGeom>
          <a:noFill/>
          <a:ln/>
        </p:spPr>
        <p:txBody>
          <a:bodyPr wrap="square" rtlCol="0" anchor="ctr"/>
          <a:lstStyle/>
          <a:p>
            <a:pPr indent="0" marL="0">
              <a:buNone/>
            </a:pPr>
            <a:r>
              <a:rPr lang="en-US" sz="1200" b="1" dirty="0">
                <a:solidFill>
                  <a:srgbClr val="2FBC9B"/>
                </a:solidFill>
                <a:latin typeface="Arial" pitchFamily="34" charset="0"/>
                <a:ea typeface="Arial" pitchFamily="34" charset="-122"/>
                <a:cs typeface="Arial" pitchFamily="34" charset="-120"/>
              </a:rPr>
              <a:t>Our position</a:t>
            </a:r>
            <a:endParaRPr lang="en-US" sz="1200" dirty="0"/>
          </a:p>
        </p:txBody>
      </p:sp>
      <p:sp>
        <p:nvSpPr>
          <p:cNvPr id="7" name="Shape 5"/>
          <p:cNvSpPr/>
          <p:nvPr/>
        </p:nvSpPr>
        <p:spPr>
          <a:xfrm>
            <a:off x="548640" y="1901952"/>
            <a:ext cx="11064240" cy="658368"/>
          </a:xfrm>
          <a:prstGeom prst="rect">
            <a:avLst/>
          </a:prstGeom>
          <a:solidFill>
            <a:srgbClr val="FFFFFF"/>
          </a:solidFill>
          <a:ln/>
        </p:spPr>
      </p:sp>
      <p:sp>
        <p:nvSpPr>
          <p:cNvPr id="8" name="Text 6"/>
          <p:cNvSpPr/>
          <p:nvPr/>
        </p:nvSpPr>
        <p:spPr>
          <a:xfrm>
            <a:off x="640080" y="1965960"/>
            <a:ext cx="4754880" cy="548640"/>
          </a:xfrm>
          <a:prstGeom prst="rect">
            <a:avLst/>
          </a:prstGeom>
          <a:noFill/>
          <a:ln/>
        </p:spPr>
        <p:txBody>
          <a:bodyPr wrap="square" rtlCol="0" anchor="ctr"/>
          <a:lstStyle/>
          <a:p>
            <a:pPr indent="0" marL="0">
              <a:buNone/>
            </a:pPr>
            <a:r>
              <a:rPr lang="en-US" sz="1400" dirty="0">
                <a:solidFill>
                  <a:srgbClr val="1A1A1A"/>
                </a:solidFill>
                <a:latin typeface="Arial" pitchFamily="34" charset="0"/>
                <a:ea typeface="Arial" pitchFamily="34" charset="-122"/>
                <a:cs typeface="Arial" pitchFamily="34" charset="-120"/>
              </a:rPr>
              <a:t>Score, planning, education</a:t>
            </a:r>
            <a:endParaRPr lang="en-US" sz="1400" dirty="0"/>
          </a:p>
        </p:txBody>
      </p:sp>
      <p:sp>
        <p:nvSpPr>
          <p:cNvPr id="9" name="Text 7"/>
          <p:cNvSpPr/>
          <p:nvPr/>
        </p:nvSpPr>
        <p:spPr>
          <a:xfrm>
            <a:off x="5486400" y="1965960"/>
            <a:ext cx="2834640" cy="548640"/>
          </a:xfrm>
          <a:prstGeom prst="rect">
            <a:avLst/>
          </a:prstGeom>
          <a:noFill/>
          <a:ln/>
        </p:spPr>
        <p:txBody>
          <a:bodyPr wrap="square" rtlCol="0" anchor="ctr"/>
          <a:lstStyle/>
          <a:p>
            <a:pPr indent="0" marL="0">
              <a:buNone/>
            </a:pPr>
            <a:r>
              <a:rPr lang="en-US" sz="1400" b="1" dirty="0">
                <a:solidFill>
                  <a:srgbClr val="0B2F2A"/>
                </a:solidFill>
                <a:latin typeface="Arial" pitchFamily="34" charset="0"/>
                <a:ea typeface="Arial" pitchFamily="34" charset="-122"/>
                <a:cs typeface="Arial" pitchFamily="34" charset="-120"/>
              </a:rPr>
              <a:t>— none —</a:t>
            </a:r>
            <a:endParaRPr lang="en-US" sz="1400" dirty="0"/>
          </a:p>
        </p:txBody>
      </p:sp>
      <p:sp>
        <p:nvSpPr>
          <p:cNvPr id="10" name="Text 8"/>
          <p:cNvSpPr/>
          <p:nvPr/>
        </p:nvSpPr>
        <p:spPr>
          <a:xfrm>
            <a:off x="8412480" y="1965960"/>
            <a:ext cx="3108960" cy="548640"/>
          </a:xfrm>
          <a:prstGeom prst="rect">
            <a:avLst/>
          </a:prstGeom>
          <a:noFill/>
          <a:ln/>
        </p:spPr>
        <p:txBody>
          <a:bodyPr wrap="square" rtlCol="0" anchor="ctr"/>
          <a:lstStyle/>
          <a:p>
            <a:pPr indent="0" marL="0">
              <a:buNone/>
            </a:pPr>
            <a:r>
              <a:rPr lang="en-US" sz="1300" dirty="0">
                <a:solidFill>
                  <a:srgbClr val="55605B"/>
                </a:solidFill>
                <a:latin typeface="Arial" pitchFamily="34" charset="0"/>
                <a:ea typeface="Arial" pitchFamily="34" charset="-122"/>
                <a:cs typeface="Arial" pitchFamily="34" charset="-120"/>
              </a:rPr>
              <a:t>No licence</a:t>
            </a:r>
            <a:endParaRPr lang="en-US" sz="1300" dirty="0"/>
          </a:p>
        </p:txBody>
      </p:sp>
      <p:sp>
        <p:nvSpPr>
          <p:cNvPr id="11" name="Text 9"/>
          <p:cNvSpPr/>
          <p:nvPr/>
        </p:nvSpPr>
        <p:spPr>
          <a:xfrm>
            <a:off x="640080" y="2679192"/>
            <a:ext cx="4754880" cy="548640"/>
          </a:xfrm>
          <a:prstGeom prst="rect">
            <a:avLst/>
          </a:prstGeom>
          <a:noFill/>
          <a:ln/>
        </p:spPr>
        <p:txBody>
          <a:bodyPr wrap="square" rtlCol="0" anchor="ctr"/>
          <a:lstStyle/>
          <a:p>
            <a:pPr indent="0" marL="0">
              <a:buNone/>
            </a:pPr>
            <a:r>
              <a:rPr lang="en-US" sz="1400" dirty="0">
                <a:solidFill>
                  <a:srgbClr val="1A1A1A"/>
                </a:solidFill>
                <a:latin typeface="Arial" pitchFamily="34" charset="0"/>
                <a:ea typeface="Arial" pitchFamily="34" charset="-122"/>
                <a:cs typeface="Arial" pitchFamily="34" charset="-120"/>
              </a:rPr>
              <a:t>Tax compute + guide self-file</a:t>
            </a:r>
            <a:endParaRPr lang="en-US" sz="1400" dirty="0"/>
          </a:p>
        </p:txBody>
      </p:sp>
      <p:sp>
        <p:nvSpPr>
          <p:cNvPr id="12" name="Text 10"/>
          <p:cNvSpPr/>
          <p:nvPr/>
        </p:nvSpPr>
        <p:spPr>
          <a:xfrm>
            <a:off x="5486400" y="2679192"/>
            <a:ext cx="2834640" cy="548640"/>
          </a:xfrm>
          <a:prstGeom prst="rect">
            <a:avLst/>
          </a:prstGeom>
          <a:noFill/>
          <a:ln/>
        </p:spPr>
        <p:txBody>
          <a:bodyPr wrap="square" rtlCol="0" anchor="ctr"/>
          <a:lstStyle/>
          <a:p>
            <a:pPr indent="0" marL="0">
              <a:buNone/>
            </a:pPr>
            <a:r>
              <a:rPr lang="en-US" sz="1400" b="1" dirty="0">
                <a:solidFill>
                  <a:srgbClr val="0B2F2A"/>
                </a:solidFill>
                <a:latin typeface="Arial" pitchFamily="34" charset="0"/>
                <a:ea typeface="Arial" pitchFamily="34" charset="-122"/>
                <a:cs typeface="Arial" pitchFamily="34" charset="-120"/>
              </a:rPr>
              <a:t>Income-Tax Dept</a:t>
            </a:r>
            <a:endParaRPr lang="en-US" sz="1400" dirty="0"/>
          </a:p>
        </p:txBody>
      </p:sp>
      <p:sp>
        <p:nvSpPr>
          <p:cNvPr id="13" name="Text 11"/>
          <p:cNvSpPr/>
          <p:nvPr/>
        </p:nvSpPr>
        <p:spPr>
          <a:xfrm>
            <a:off x="8412480" y="2679192"/>
            <a:ext cx="3108960" cy="548640"/>
          </a:xfrm>
          <a:prstGeom prst="rect">
            <a:avLst/>
          </a:prstGeom>
          <a:noFill/>
          <a:ln/>
        </p:spPr>
        <p:txBody>
          <a:bodyPr wrap="square" rtlCol="0" anchor="ctr"/>
          <a:lstStyle/>
          <a:p>
            <a:pPr indent="0" marL="0">
              <a:buNone/>
            </a:pPr>
            <a:r>
              <a:rPr lang="en-US" sz="1300" dirty="0">
                <a:solidFill>
                  <a:srgbClr val="55605B"/>
                </a:solidFill>
                <a:latin typeface="Arial" pitchFamily="34" charset="0"/>
                <a:ea typeface="Arial" pitchFamily="34" charset="-122"/>
                <a:cs typeface="Arial" pitchFamily="34" charset="-120"/>
              </a:rPr>
              <a:t>No (ERI later for 1-click)</a:t>
            </a:r>
            <a:endParaRPr lang="en-US" sz="1300" dirty="0"/>
          </a:p>
        </p:txBody>
      </p:sp>
      <p:sp>
        <p:nvSpPr>
          <p:cNvPr id="14" name="Shape 12"/>
          <p:cNvSpPr/>
          <p:nvPr/>
        </p:nvSpPr>
        <p:spPr>
          <a:xfrm>
            <a:off x="548640" y="3328416"/>
            <a:ext cx="11064240" cy="658368"/>
          </a:xfrm>
          <a:prstGeom prst="rect">
            <a:avLst/>
          </a:prstGeom>
          <a:solidFill>
            <a:srgbClr val="FFFFFF"/>
          </a:solidFill>
          <a:ln/>
        </p:spPr>
      </p:sp>
      <p:sp>
        <p:nvSpPr>
          <p:cNvPr id="15" name="Text 13"/>
          <p:cNvSpPr/>
          <p:nvPr/>
        </p:nvSpPr>
        <p:spPr>
          <a:xfrm>
            <a:off x="640080" y="3392424"/>
            <a:ext cx="4754880" cy="548640"/>
          </a:xfrm>
          <a:prstGeom prst="rect">
            <a:avLst/>
          </a:prstGeom>
          <a:noFill/>
          <a:ln/>
        </p:spPr>
        <p:txBody>
          <a:bodyPr wrap="square" rtlCol="0" anchor="ctr"/>
          <a:lstStyle/>
          <a:p>
            <a:pPr indent="0" marL="0">
              <a:buNone/>
            </a:pPr>
            <a:r>
              <a:rPr lang="en-US" sz="1400" dirty="0">
                <a:solidFill>
                  <a:srgbClr val="1A1A1A"/>
                </a:solidFill>
                <a:latin typeface="Arial" pitchFamily="34" charset="0"/>
                <a:ea typeface="Arial" pitchFamily="34" charset="-122"/>
                <a:cs typeface="Arial" pitchFamily="34" charset="-120"/>
              </a:rPr>
              <a:t>Investing (funds → stocks)</a:t>
            </a:r>
            <a:endParaRPr lang="en-US" sz="1400" dirty="0"/>
          </a:p>
        </p:txBody>
      </p:sp>
      <p:sp>
        <p:nvSpPr>
          <p:cNvPr id="16" name="Text 14"/>
          <p:cNvSpPr/>
          <p:nvPr/>
        </p:nvSpPr>
        <p:spPr>
          <a:xfrm>
            <a:off x="5486400" y="3392424"/>
            <a:ext cx="2834640" cy="548640"/>
          </a:xfrm>
          <a:prstGeom prst="rect">
            <a:avLst/>
          </a:prstGeom>
          <a:noFill/>
          <a:ln/>
        </p:spPr>
        <p:txBody>
          <a:bodyPr wrap="square" rtlCol="0" anchor="ctr"/>
          <a:lstStyle/>
          <a:p>
            <a:pPr indent="0" marL="0">
              <a:buNone/>
            </a:pPr>
            <a:r>
              <a:rPr lang="en-US" sz="1400" b="1" dirty="0">
                <a:solidFill>
                  <a:srgbClr val="0B2F2A"/>
                </a:solidFill>
                <a:latin typeface="Arial" pitchFamily="34" charset="0"/>
                <a:ea typeface="Arial" pitchFamily="34" charset="-122"/>
                <a:cs typeface="Arial" pitchFamily="34" charset="-120"/>
              </a:rPr>
              <a:t>SEBI / AMFI</a:t>
            </a:r>
            <a:endParaRPr lang="en-US" sz="1400" dirty="0"/>
          </a:p>
        </p:txBody>
      </p:sp>
      <p:sp>
        <p:nvSpPr>
          <p:cNvPr id="17" name="Text 15"/>
          <p:cNvSpPr/>
          <p:nvPr/>
        </p:nvSpPr>
        <p:spPr>
          <a:xfrm>
            <a:off x="8412480" y="3392424"/>
            <a:ext cx="3108960" cy="548640"/>
          </a:xfrm>
          <a:prstGeom prst="rect">
            <a:avLst/>
          </a:prstGeom>
          <a:noFill/>
          <a:ln/>
        </p:spPr>
        <p:txBody>
          <a:bodyPr wrap="square" rtlCol="0" anchor="ctr"/>
          <a:lstStyle/>
          <a:p>
            <a:pPr indent="0" marL="0">
              <a:buNone/>
            </a:pPr>
            <a:r>
              <a:rPr lang="en-US" sz="1300" dirty="0">
                <a:solidFill>
                  <a:srgbClr val="55605B"/>
                </a:solidFill>
                <a:latin typeface="Arial" pitchFamily="34" charset="0"/>
                <a:ea typeface="Arial" pitchFamily="34" charset="-122"/>
                <a:cs typeface="Arial" pitchFamily="34" charset="-120"/>
              </a:rPr>
              <a:t>MFD now → RA/RIA later</a:t>
            </a:r>
            <a:endParaRPr lang="en-US" sz="1300" dirty="0"/>
          </a:p>
        </p:txBody>
      </p:sp>
      <p:sp>
        <p:nvSpPr>
          <p:cNvPr id="18" name="Text 16"/>
          <p:cNvSpPr/>
          <p:nvPr/>
        </p:nvSpPr>
        <p:spPr>
          <a:xfrm>
            <a:off x="640080" y="4105656"/>
            <a:ext cx="4754880" cy="548640"/>
          </a:xfrm>
          <a:prstGeom prst="rect">
            <a:avLst/>
          </a:prstGeom>
          <a:noFill/>
          <a:ln/>
        </p:spPr>
        <p:txBody>
          <a:bodyPr wrap="square" rtlCol="0" anchor="ctr"/>
          <a:lstStyle/>
          <a:p>
            <a:pPr indent="0" marL="0">
              <a:buNone/>
            </a:pPr>
            <a:r>
              <a:rPr lang="en-US" sz="1400" dirty="0">
                <a:solidFill>
                  <a:srgbClr val="1A1A1A"/>
                </a:solidFill>
                <a:latin typeface="Arial" pitchFamily="34" charset="0"/>
                <a:ea typeface="Arial" pitchFamily="34" charset="-122"/>
                <a:cs typeface="Arial" pitchFamily="34" charset="-120"/>
              </a:rPr>
              <a:t>Insurance compare + buy</a:t>
            </a:r>
            <a:endParaRPr lang="en-US" sz="1400" dirty="0"/>
          </a:p>
        </p:txBody>
      </p:sp>
      <p:sp>
        <p:nvSpPr>
          <p:cNvPr id="19" name="Text 17"/>
          <p:cNvSpPr/>
          <p:nvPr/>
        </p:nvSpPr>
        <p:spPr>
          <a:xfrm>
            <a:off x="5486400" y="4105656"/>
            <a:ext cx="2834640" cy="548640"/>
          </a:xfrm>
          <a:prstGeom prst="rect">
            <a:avLst/>
          </a:prstGeom>
          <a:noFill/>
          <a:ln/>
        </p:spPr>
        <p:txBody>
          <a:bodyPr wrap="square" rtlCol="0" anchor="ctr"/>
          <a:lstStyle/>
          <a:p>
            <a:pPr indent="0" marL="0">
              <a:buNone/>
            </a:pPr>
            <a:r>
              <a:rPr lang="en-US" sz="1400" b="1" dirty="0">
                <a:solidFill>
                  <a:srgbClr val="0B2F2A"/>
                </a:solidFill>
                <a:latin typeface="Arial" pitchFamily="34" charset="0"/>
                <a:ea typeface="Arial" pitchFamily="34" charset="-122"/>
                <a:cs typeface="Arial" pitchFamily="34" charset="-120"/>
              </a:rPr>
              <a:t>IRDAI</a:t>
            </a:r>
            <a:endParaRPr lang="en-US" sz="1400" dirty="0"/>
          </a:p>
        </p:txBody>
      </p:sp>
      <p:sp>
        <p:nvSpPr>
          <p:cNvPr id="20" name="Text 18"/>
          <p:cNvSpPr/>
          <p:nvPr/>
        </p:nvSpPr>
        <p:spPr>
          <a:xfrm>
            <a:off x="8412480" y="4105656"/>
            <a:ext cx="3108960" cy="548640"/>
          </a:xfrm>
          <a:prstGeom prst="rect">
            <a:avLst/>
          </a:prstGeom>
          <a:noFill/>
          <a:ln/>
        </p:spPr>
        <p:txBody>
          <a:bodyPr wrap="square" rtlCol="0" anchor="ctr"/>
          <a:lstStyle/>
          <a:p>
            <a:pPr indent="0" marL="0">
              <a:buNone/>
            </a:pPr>
            <a:r>
              <a:rPr lang="en-US" sz="1300" dirty="0">
                <a:solidFill>
                  <a:srgbClr val="55605B"/>
                </a:solidFill>
                <a:latin typeface="Arial" pitchFamily="34" charset="0"/>
                <a:ea typeface="Arial" pitchFamily="34" charset="-122"/>
                <a:cs typeface="Arial" pitchFamily="34" charset="-120"/>
              </a:rPr>
              <a:t>Via licensed partner → own licence</a:t>
            </a:r>
            <a:endParaRPr lang="en-US" sz="1300" dirty="0"/>
          </a:p>
        </p:txBody>
      </p:sp>
      <p:sp>
        <p:nvSpPr>
          <p:cNvPr id="21" name="Shape 19"/>
          <p:cNvSpPr/>
          <p:nvPr/>
        </p:nvSpPr>
        <p:spPr>
          <a:xfrm>
            <a:off x="548640" y="4754880"/>
            <a:ext cx="11064240" cy="658368"/>
          </a:xfrm>
          <a:prstGeom prst="rect">
            <a:avLst/>
          </a:prstGeom>
          <a:solidFill>
            <a:srgbClr val="FFFFFF"/>
          </a:solidFill>
          <a:ln/>
        </p:spPr>
      </p:sp>
      <p:sp>
        <p:nvSpPr>
          <p:cNvPr id="22" name="Text 20"/>
          <p:cNvSpPr/>
          <p:nvPr/>
        </p:nvSpPr>
        <p:spPr>
          <a:xfrm>
            <a:off x="640080" y="4818888"/>
            <a:ext cx="4754880" cy="548640"/>
          </a:xfrm>
          <a:prstGeom prst="rect">
            <a:avLst/>
          </a:prstGeom>
          <a:noFill/>
          <a:ln/>
        </p:spPr>
        <p:txBody>
          <a:bodyPr wrap="square" rtlCol="0" anchor="ctr"/>
          <a:lstStyle/>
          <a:p>
            <a:pPr indent="0" marL="0">
              <a:buNone/>
            </a:pPr>
            <a:r>
              <a:rPr lang="en-US" sz="1400" dirty="0">
                <a:solidFill>
                  <a:srgbClr val="1A1A1A"/>
                </a:solidFill>
                <a:latin typeface="Arial" pitchFamily="34" charset="0"/>
                <a:ea typeface="Arial" pitchFamily="34" charset="-122"/>
                <a:cs typeface="Arial" pitchFamily="34" charset="-120"/>
              </a:rPr>
              <a:t>Live bank-data sync</a:t>
            </a:r>
            <a:endParaRPr lang="en-US" sz="1400" dirty="0"/>
          </a:p>
        </p:txBody>
      </p:sp>
      <p:sp>
        <p:nvSpPr>
          <p:cNvPr id="23" name="Text 21"/>
          <p:cNvSpPr/>
          <p:nvPr/>
        </p:nvSpPr>
        <p:spPr>
          <a:xfrm>
            <a:off x="5486400" y="4818888"/>
            <a:ext cx="2834640" cy="548640"/>
          </a:xfrm>
          <a:prstGeom prst="rect">
            <a:avLst/>
          </a:prstGeom>
          <a:noFill/>
          <a:ln/>
        </p:spPr>
        <p:txBody>
          <a:bodyPr wrap="square" rtlCol="0" anchor="ctr"/>
          <a:lstStyle/>
          <a:p>
            <a:pPr indent="0" marL="0">
              <a:buNone/>
            </a:pPr>
            <a:r>
              <a:rPr lang="en-US" sz="1400" b="1" dirty="0">
                <a:solidFill>
                  <a:srgbClr val="0B2F2A"/>
                </a:solidFill>
                <a:latin typeface="Arial" pitchFamily="34" charset="0"/>
                <a:ea typeface="Arial" pitchFamily="34" charset="-122"/>
                <a:cs typeface="Arial" pitchFamily="34" charset="-120"/>
              </a:rPr>
              <a:t>RBI (Account Aggregator)</a:t>
            </a:r>
            <a:endParaRPr lang="en-US" sz="1400" dirty="0"/>
          </a:p>
        </p:txBody>
      </p:sp>
      <p:sp>
        <p:nvSpPr>
          <p:cNvPr id="24" name="Text 22"/>
          <p:cNvSpPr/>
          <p:nvPr/>
        </p:nvSpPr>
        <p:spPr>
          <a:xfrm>
            <a:off x="8412480" y="4818888"/>
            <a:ext cx="3108960" cy="548640"/>
          </a:xfrm>
          <a:prstGeom prst="rect">
            <a:avLst/>
          </a:prstGeom>
          <a:noFill/>
          <a:ln/>
        </p:spPr>
        <p:txBody>
          <a:bodyPr wrap="square" rtlCol="0" anchor="ctr"/>
          <a:lstStyle/>
          <a:p>
            <a:pPr indent="0" marL="0">
              <a:buNone/>
            </a:pPr>
            <a:r>
              <a:rPr lang="en-US" sz="1300" dirty="0">
                <a:solidFill>
                  <a:srgbClr val="55605B"/>
                </a:solidFill>
                <a:latin typeface="Arial" pitchFamily="34" charset="0"/>
                <a:ea typeface="Arial" pitchFamily="34" charset="-122"/>
                <a:cs typeface="Arial" pitchFamily="34" charset="-120"/>
              </a:rPr>
              <a:t>FIU / partner (later)</a:t>
            </a:r>
            <a:endParaRPr lang="en-US" sz="1300" dirty="0"/>
          </a:p>
        </p:txBody>
      </p:sp>
      <p:sp>
        <p:nvSpPr>
          <p:cNvPr id="25" name="Text 23"/>
          <p:cNvSpPr/>
          <p:nvPr/>
        </p:nvSpPr>
        <p:spPr>
          <a:xfrm>
            <a:off x="640080" y="5532120"/>
            <a:ext cx="4754880" cy="548640"/>
          </a:xfrm>
          <a:prstGeom prst="rect">
            <a:avLst/>
          </a:prstGeom>
          <a:noFill/>
          <a:ln/>
        </p:spPr>
        <p:txBody>
          <a:bodyPr wrap="square" rtlCol="0" anchor="ctr"/>
          <a:lstStyle/>
          <a:p>
            <a:pPr indent="0" marL="0">
              <a:buNone/>
            </a:pPr>
            <a:r>
              <a:rPr lang="en-US" sz="1400" dirty="0">
                <a:solidFill>
                  <a:srgbClr val="1A1A1A"/>
                </a:solidFill>
                <a:latin typeface="Arial" pitchFamily="34" charset="0"/>
                <a:ea typeface="Arial" pitchFamily="34" charset="-122"/>
                <a:cs typeface="Arial" pitchFamily="34" charset="-120"/>
              </a:rPr>
              <a:t>All financial personal data</a:t>
            </a:r>
            <a:endParaRPr lang="en-US" sz="1400" dirty="0"/>
          </a:p>
        </p:txBody>
      </p:sp>
      <p:sp>
        <p:nvSpPr>
          <p:cNvPr id="26" name="Text 24"/>
          <p:cNvSpPr/>
          <p:nvPr/>
        </p:nvSpPr>
        <p:spPr>
          <a:xfrm>
            <a:off x="5486400" y="5532120"/>
            <a:ext cx="2834640" cy="548640"/>
          </a:xfrm>
          <a:prstGeom prst="rect">
            <a:avLst/>
          </a:prstGeom>
          <a:noFill/>
          <a:ln/>
        </p:spPr>
        <p:txBody>
          <a:bodyPr wrap="square" rtlCol="0" anchor="ctr"/>
          <a:lstStyle/>
          <a:p>
            <a:pPr indent="0" marL="0">
              <a:buNone/>
            </a:pPr>
            <a:r>
              <a:rPr lang="en-US" sz="1400" b="1" dirty="0">
                <a:solidFill>
                  <a:srgbClr val="0B2F2A"/>
                </a:solidFill>
                <a:latin typeface="Arial" pitchFamily="34" charset="0"/>
                <a:ea typeface="Arial" pitchFamily="34" charset="-122"/>
                <a:cs typeface="Arial" pitchFamily="34" charset="-120"/>
              </a:rPr>
              <a:t>DPDP Act + RBI</a:t>
            </a:r>
            <a:endParaRPr lang="en-US" sz="1400" dirty="0"/>
          </a:p>
        </p:txBody>
      </p:sp>
      <p:sp>
        <p:nvSpPr>
          <p:cNvPr id="27" name="Text 25"/>
          <p:cNvSpPr/>
          <p:nvPr/>
        </p:nvSpPr>
        <p:spPr>
          <a:xfrm>
            <a:off x="8412480" y="5532120"/>
            <a:ext cx="3108960" cy="548640"/>
          </a:xfrm>
          <a:prstGeom prst="rect">
            <a:avLst/>
          </a:prstGeom>
          <a:noFill/>
          <a:ln/>
        </p:spPr>
        <p:txBody>
          <a:bodyPr wrap="square" rtlCol="0" anchor="ctr"/>
          <a:lstStyle/>
          <a:p>
            <a:pPr indent="0" marL="0">
              <a:buNone/>
            </a:pPr>
            <a:r>
              <a:rPr lang="en-US" sz="1300" dirty="0">
                <a:solidFill>
                  <a:srgbClr val="55605B"/>
                </a:solidFill>
                <a:latin typeface="Arial" pitchFamily="34" charset="0"/>
                <a:ea typeface="Arial" pitchFamily="34" charset="-122"/>
                <a:cs typeface="Arial" pitchFamily="34" charset="-120"/>
              </a:rPr>
              <a:t>Data Fiduciary (always)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2FBC9B"/>
          </a:solidFill>
          <a:ln/>
        </p:spPr>
      </p:sp>
      <p:sp>
        <p:nvSpPr>
          <p:cNvPr id="3" name="Text 1"/>
          <p:cNvSpPr/>
          <p:nvPr/>
        </p:nvSpPr>
        <p:spPr>
          <a:xfrm>
            <a:off x="640080" y="457200"/>
            <a:ext cx="10972800" cy="640080"/>
          </a:xfrm>
          <a:prstGeom prst="rect">
            <a:avLst/>
          </a:prstGeom>
          <a:noFill/>
          <a:ln/>
        </p:spPr>
        <p:txBody>
          <a:bodyPr wrap="square" rtlCol="0" anchor="ctr"/>
          <a:lstStyle/>
          <a:p>
            <a:pPr indent="0" marL="0">
              <a:buNone/>
            </a:pPr>
            <a:r>
              <a:rPr lang="en-US" sz="2800" b="1" dirty="0">
                <a:solidFill>
                  <a:srgbClr val="0B2F2A"/>
                </a:solidFill>
                <a:latin typeface="Arial" pitchFamily="34" charset="0"/>
                <a:ea typeface="Arial" pitchFamily="34" charset="-122"/>
                <a:cs typeface="Arial" pitchFamily="34" charset="-120"/>
              </a:rPr>
              <a:t>How we stay compliant by design</a:t>
            </a:r>
            <a:endParaRPr lang="en-US" sz="2800" dirty="0"/>
          </a:p>
        </p:txBody>
      </p:sp>
      <p:sp>
        <p:nvSpPr>
          <p:cNvPr id="4" name="Shape 2"/>
          <p:cNvSpPr/>
          <p:nvPr/>
        </p:nvSpPr>
        <p:spPr>
          <a:xfrm>
            <a:off x="640080" y="1554480"/>
            <a:ext cx="5303520" cy="1920240"/>
          </a:xfrm>
          <a:prstGeom prst="roundRect">
            <a:avLst>
              <a:gd name="adj" fmla="val 4762"/>
            </a:avLst>
          </a:prstGeom>
          <a:solidFill>
            <a:srgbClr val="DFF5EE"/>
          </a:solidFill>
          <a:ln w="12700">
            <a:solidFill>
              <a:srgbClr val="2FBC9B"/>
            </a:solidFill>
            <a:prstDash val="solid"/>
          </a:ln>
        </p:spPr>
      </p:sp>
      <p:sp>
        <p:nvSpPr>
          <p:cNvPr id="5" name="Text 3"/>
          <p:cNvSpPr/>
          <p:nvPr/>
        </p:nvSpPr>
        <p:spPr>
          <a:xfrm>
            <a:off x="960120" y="1783080"/>
            <a:ext cx="4663440" cy="457200"/>
          </a:xfrm>
          <a:prstGeom prst="rect">
            <a:avLst/>
          </a:prstGeom>
          <a:noFill/>
          <a:ln/>
        </p:spPr>
        <p:txBody>
          <a:bodyPr wrap="square" rtlCol="0" anchor="ctr"/>
          <a:lstStyle/>
          <a:p>
            <a:pPr indent="0" marL="0">
              <a:buNone/>
            </a:pPr>
            <a:r>
              <a:rPr lang="en-US" sz="1900" b="1" dirty="0">
                <a:solidFill>
                  <a:srgbClr val="0B2F2A"/>
                </a:solidFill>
                <a:latin typeface="Arial" pitchFamily="34" charset="0"/>
                <a:ea typeface="Arial" pitchFamily="34" charset="-122"/>
                <a:cs typeface="Arial" pitchFamily="34" charset="-120"/>
              </a:rPr>
              <a:t>Education lane</a:t>
            </a:r>
            <a:endParaRPr lang="en-US" sz="1900" dirty="0"/>
          </a:p>
        </p:txBody>
      </p:sp>
      <p:sp>
        <p:nvSpPr>
          <p:cNvPr id="6" name="Text 4"/>
          <p:cNvSpPr/>
          <p:nvPr/>
        </p:nvSpPr>
        <p:spPr>
          <a:xfrm>
            <a:off x="960120" y="2377440"/>
            <a:ext cx="4663440" cy="1005840"/>
          </a:xfrm>
          <a:prstGeom prst="rect">
            <a:avLst/>
          </a:prstGeom>
          <a:noFill/>
          <a:ln/>
        </p:spPr>
        <p:txBody>
          <a:bodyPr wrap="square" rtlCol="0" anchor="t"/>
          <a:lstStyle/>
          <a:p>
            <a:pPr indent="0" marL="0">
              <a:lnSpc>
                <a:spcPct val="120000"/>
              </a:lnSpc>
              <a:buNone/>
            </a:pPr>
            <a:r>
              <a:rPr lang="en-US" sz="1400" dirty="0">
                <a:solidFill>
                  <a:srgbClr val="16544B"/>
                </a:solidFill>
                <a:latin typeface="Arial" pitchFamily="34" charset="0"/>
                <a:ea typeface="Arial" pitchFamily="34" charset="-122"/>
                <a:cs typeface="Arial" pitchFamily="34" charset="-120"/>
              </a:rPr>
              <a:t>We never name a specific stock, fund or insurer product until licensed — only category-level guidance.</a:t>
            </a:r>
            <a:endParaRPr lang="en-US" sz="1400" dirty="0"/>
          </a:p>
        </p:txBody>
      </p:sp>
      <p:sp>
        <p:nvSpPr>
          <p:cNvPr id="7" name="Shape 5"/>
          <p:cNvSpPr/>
          <p:nvPr/>
        </p:nvSpPr>
        <p:spPr>
          <a:xfrm>
            <a:off x="6217920" y="1554480"/>
            <a:ext cx="5303520" cy="1920240"/>
          </a:xfrm>
          <a:prstGeom prst="roundRect">
            <a:avLst>
              <a:gd name="adj" fmla="val 4762"/>
            </a:avLst>
          </a:prstGeom>
          <a:solidFill>
            <a:srgbClr val="DFF5EE"/>
          </a:solidFill>
          <a:ln w="12700">
            <a:solidFill>
              <a:srgbClr val="2FBC9B"/>
            </a:solidFill>
            <a:prstDash val="solid"/>
          </a:ln>
        </p:spPr>
      </p:sp>
      <p:sp>
        <p:nvSpPr>
          <p:cNvPr id="8" name="Text 6"/>
          <p:cNvSpPr/>
          <p:nvPr/>
        </p:nvSpPr>
        <p:spPr>
          <a:xfrm>
            <a:off x="6537960" y="1783080"/>
            <a:ext cx="4663440" cy="457200"/>
          </a:xfrm>
          <a:prstGeom prst="rect">
            <a:avLst/>
          </a:prstGeom>
          <a:noFill/>
          <a:ln/>
        </p:spPr>
        <p:txBody>
          <a:bodyPr wrap="square" rtlCol="0" anchor="ctr"/>
          <a:lstStyle/>
          <a:p>
            <a:pPr indent="0" marL="0">
              <a:buNone/>
            </a:pPr>
            <a:r>
              <a:rPr lang="en-US" sz="1900" b="1" dirty="0">
                <a:solidFill>
                  <a:srgbClr val="0B2F2A"/>
                </a:solidFill>
                <a:latin typeface="Arial" pitchFamily="34" charset="0"/>
                <a:ea typeface="Arial" pitchFamily="34" charset="-122"/>
                <a:cs typeface="Arial" pitchFamily="34" charset="-120"/>
              </a:rPr>
              <a:t>No custody</a:t>
            </a:r>
            <a:endParaRPr lang="en-US" sz="1900" dirty="0"/>
          </a:p>
        </p:txBody>
      </p:sp>
      <p:sp>
        <p:nvSpPr>
          <p:cNvPr id="9" name="Text 7"/>
          <p:cNvSpPr/>
          <p:nvPr/>
        </p:nvSpPr>
        <p:spPr>
          <a:xfrm>
            <a:off x="6537960" y="2377440"/>
            <a:ext cx="4663440" cy="1005840"/>
          </a:xfrm>
          <a:prstGeom prst="rect">
            <a:avLst/>
          </a:prstGeom>
          <a:noFill/>
          <a:ln/>
        </p:spPr>
        <p:txBody>
          <a:bodyPr wrap="square" rtlCol="0" anchor="t"/>
          <a:lstStyle/>
          <a:p>
            <a:pPr indent="0" marL="0">
              <a:lnSpc>
                <a:spcPct val="120000"/>
              </a:lnSpc>
              <a:buNone/>
            </a:pPr>
            <a:r>
              <a:rPr lang="en-US" sz="1400" dirty="0">
                <a:solidFill>
                  <a:srgbClr val="16544B"/>
                </a:solidFill>
                <a:latin typeface="Arial" pitchFamily="34" charset="0"/>
                <a:ea typeface="Arial" pitchFamily="34" charset="-122"/>
                <a:cs typeface="Arial" pitchFamily="34" charset="-120"/>
              </a:rPr>
              <a:t>We never hold client money or securities — execution always happens at a licensed partner, in the user’s own account.</a:t>
            </a:r>
            <a:endParaRPr lang="en-US" sz="1400" dirty="0"/>
          </a:p>
        </p:txBody>
      </p:sp>
      <p:sp>
        <p:nvSpPr>
          <p:cNvPr id="10" name="Shape 8"/>
          <p:cNvSpPr/>
          <p:nvPr/>
        </p:nvSpPr>
        <p:spPr>
          <a:xfrm>
            <a:off x="640080" y="3749040"/>
            <a:ext cx="5303520" cy="1920240"/>
          </a:xfrm>
          <a:prstGeom prst="roundRect">
            <a:avLst>
              <a:gd name="adj" fmla="val 4762"/>
            </a:avLst>
          </a:prstGeom>
          <a:solidFill>
            <a:srgbClr val="DFF5EE"/>
          </a:solidFill>
          <a:ln w="12700">
            <a:solidFill>
              <a:srgbClr val="2FBC9B"/>
            </a:solidFill>
            <a:prstDash val="solid"/>
          </a:ln>
        </p:spPr>
      </p:sp>
      <p:sp>
        <p:nvSpPr>
          <p:cNvPr id="11" name="Text 9"/>
          <p:cNvSpPr/>
          <p:nvPr/>
        </p:nvSpPr>
        <p:spPr>
          <a:xfrm>
            <a:off x="960120" y="3977640"/>
            <a:ext cx="4663440" cy="457200"/>
          </a:xfrm>
          <a:prstGeom prst="rect">
            <a:avLst/>
          </a:prstGeom>
          <a:noFill/>
          <a:ln/>
        </p:spPr>
        <p:txBody>
          <a:bodyPr wrap="square" rtlCol="0" anchor="ctr"/>
          <a:lstStyle/>
          <a:p>
            <a:pPr indent="0" marL="0">
              <a:buNone/>
            </a:pPr>
            <a:r>
              <a:rPr lang="en-US" sz="1900" b="1" dirty="0">
                <a:solidFill>
                  <a:srgbClr val="0B2F2A"/>
                </a:solidFill>
                <a:latin typeface="Arial" pitchFamily="34" charset="0"/>
                <a:ea typeface="Arial" pitchFamily="34" charset="-122"/>
                <a:cs typeface="Arial" pitchFamily="34" charset="-120"/>
              </a:rPr>
              <a:t>Propose → confirm</a:t>
            </a:r>
            <a:endParaRPr lang="en-US" sz="1900" dirty="0"/>
          </a:p>
        </p:txBody>
      </p:sp>
      <p:sp>
        <p:nvSpPr>
          <p:cNvPr id="12" name="Text 10"/>
          <p:cNvSpPr/>
          <p:nvPr/>
        </p:nvSpPr>
        <p:spPr>
          <a:xfrm>
            <a:off x="960120" y="4572000"/>
            <a:ext cx="4663440" cy="1005840"/>
          </a:xfrm>
          <a:prstGeom prst="rect">
            <a:avLst/>
          </a:prstGeom>
          <a:noFill/>
          <a:ln/>
        </p:spPr>
        <p:txBody>
          <a:bodyPr wrap="square" rtlCol="0" anchor="t"/>
          <a:lstStyle/>
          <a:p>
            <a:pPr indent="0" marL="0">
              <a:lnSpc>
                <a:spcPct val="120000"/>
              </a:lnSpc>
              <a:buNone/>
            </a:pPr>
            <a:r>
              <a:rPr lang="en-US" sz="1400" dirty="0">
                <a:solidFill>
                  <a:srgbClr val="16544B"/>
                </a:solidFill>
                <a:latin typeface="Arial" pitchFamily="34" charset="0"/>
                <a:ea typeface="Arial" pitchFamily="34" charset="-122"/>
                <a:cs typeface="Arial" pitchFamily="34" charset="-120"/>
              </a:rPr>
              <a:t>The AI never changes data or transacts on its own — it proposes, the user confirms, a validated handler applies it.</a:t>
            </a:r>
            <a:endParaRPr lang="en-US" sz="1400" dirty="0"/>
          </a:p>
        </p:txBody>
      </p:sp>
      <p:sp>
        <p:nvSpPr>
          <p:cNvPr id="13" name="Shape 11"/>
          <p:cNvSpPr/>
          <p:nvPr/>
        </p:nvSpPr>
        <p:spPr>
          <a:xfrm>
            <a:off x="6217920" y="3749040"/>
            <a:ext cx="5303520" cy="1920240"/>
          </a:xfrm>
          <a:prstGeom prst="roundRect">
            <a:avLst>
              <a:gd name="adj" fmla="val 4762"/>
            </a:avLst>
          </a:prstGeom>
          <a:solidFill>
            <a:srgbClr val="DFF5EE"/>
          </a:solidFill>
          <a:ln w="12700">
            <a:solidFill>
              <a:srgbClr val="2FBC9B"/>
            </a:solidFill>
            <a:prstDash val="solid"/>
          </a:ln>
        </p:spPr>
      </p:sp>
      <p:sp>
        <p:nvSpPr>
          <p:cNvPr id="14" name="Text 12"/>
          <p:cNvSpPr/>
          <p:nvPr/>
        </p:nvSpPr>
        <p:spPr>
          <a:xfrm>
            <a:off x="6537960" y="3977640"/>
            <a:ext cx="4663440" cy="457200"/>
          </a:xfrm>
          <a:prstGeom prst="rect">
            <a:avLst/>
          </a:prstGeom>
          <a:noFill/>
          <a:ln/>
        </p:spPr>
        <p:txBody>
          <a:bodyPr wrap="square" rtlCol="0" anchor="ctr"/>
          <a:lstStyle/>
          <a:p>
            <a:pPr indent="0" marL="0">
              <a:buNone/>
            </a:pPr>
            <a:r>
              <a:rPr lang="en-US" sz="1900" b="1" dirty="0">
                <a:solidFill>
                  <a:srgbClr val="0B2F2A"/>
                </a:solidFill>
                <a:latin typeface="Arial" pitchFamily="34" charset="0"/>
                <a:ea typeface="Arial" pitchFamily="34" charset="-122"/>
                <a:cs typeface="Arial" pitchFamily="34" charset="-120"/>
              </a:rPr>
              <a:t>Data in India</a:t>
            </a:r>
            <a:endParaRPr lang="en-US" sz="1900" dirty="0"/>
          </a:p>
        </p:txBody>
      </p:sp>
      <p:sp>
        <p:nvSpPr>
          <p:cNvPr id="15" name="Text 13"/>
          <p:cNvSpPr/>
          <p:nvPr/>
        </p:nvSpPr>
        <p:spPr>
          <a:xfrm>
            <a:off x="6537960" y="4572000"/>
            <a:ext cx="4663440" cy="1005840"/>
          </a:xfrm>
          <a:prstGeom prst="rect">
            <a:avLst/>
          </a:prstGeom>
          <a:noFill/>
          <a:ln/>
        </p:spPr>
        <p:txBody>
          <a:bodyPr wrap="square" rtlCol="0" anchor="t"/>
          <a:lstStyle/>
          <a:p>
            <a:pPr indent="0" marL="0">
              <a:lnSpc>
                <a:spcPct val="120000"/>
              </a:lnSpc>
              <a:buNone/>
            </a:pPr>
            <a:r>
              <a:rPr lang="en-US" sz="1400" dirty="0">
                <a:solidFill>
                  <a:srgbClr val="16544B"/>
                </a:solidFill>
                <a:latin typeface="Arial" pitchFamily="34" charset="0"/>
                <a:ea typeface="Arial" pitchFamily="34" charset="-122"/>
                <a:cs typeface="Arial" pitchFamily="34" charset="-120"/>
              </a:rPr>
              <a:t>All data stored in India (Mumbai), encrypted; consent ledger, export and hard-delete already built.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2FBC9B"/>
          </a:solidFill>
          <a:ln/>
        </p:spPr>
      </p:sp>
      <p:sp>
        <p:nvSpPr>
          <p:cNvPr id="3" name="Text 1"/>
          <p:cNvSpPr/>
          <p:nvPr/>
        </p:nvSpPr>
        <p:spPr>
          <a:xfrm>
            <a:off x="640080" y="457200"/>
            <a:ext cx="10972800" cy="640080"/>
          </a:xfrm>
          <a:prstGeom prst="rect">
            <a:avLst/>
          </a:prstGeom>
          <a:noFill/>
          <a:ln/>
        </p:spPr>
        <p:txBody>
          <a:bodyPr wrap="square" rtlCol="0" anchor="ctr"/>
          <a:lstStyle/>
          <a:p>
            <a:pPr indent="0" marL="0">
              <a:buNone/>
            </a:pPr>
            <a:r>
              <a:rPr lang="en-US" sz="2800" b="1" dirty="0">
                <a:solidFill>
                  <a:srgbClr val="0B2F2A"/>
                </a:solidFill>
                <a:latin typeface="Arial" pitchFamily="34" charset="0"/>
                <a:ea typeface="Arial" pitchFamily="34" charset="-122"/>
                <a:cs typeface="Arial" pitchFamily="34" charset="-120"/>
              </a:rPr>
              <a:t>Our staged licensing plan</a:t>
            </a:r>
            <a:endParaRPr lang="en-US" sz="2800" dirty="0"/>
          </a:p>
        </p:txBody>
      </p:sp>
      <p:sp>
        <p:nvSpPr>
          <p:cNvPr id="4" name="Shape 2"/>
          <p:cNvSpPr/>
          <p:nvPr/>
        </p:nvSpPr>
        <p:spPr>
          <a:xfrm>
            <a:off x="640080" y="1554480"/>
            <a:ext cx="10881360" cy="960120"/>
          </a:xfrm>
          <a:prstGeom prst="roundRect">
            <a:avLst>
              <a:gd name="adj" fmla="val 7619"/>
            </a:avLst>
          </a:prstGeom>
          <a:solidFill>
            <a:srgbClr val="FFFFFF"/>
          </a:solidFill>
          <a:ln w="12700">
            <a:solidFill>
              <a:srgbClr val="E2DED3"/>
            </a:solidFill>
            <a:prstDash val="solid"/>
          </a:ln>
        </p:spPr>
      </p:sp>
      <p:sp>
        <p:nvSpPr>
          <p:cNvPr id="5" name="Shape 3"/>
          <p:cNvSpPr/>
          <p:nvPr/>
        </p:nvSpPr>
        <p:spPr>
          <a:xfrm>
            <a:off x="640080" y="1554480"/>
            <a:ext cx="128016" cy="960120"/>
          </a:xfrm>
          <a:prstGeom prst="rect">
            <a:avLst/>
          </a:prstGeom>
          <a:solidFill>
            <a:srgbClr val="2FBC9B"/>
          </a:solidFill>
          <a:ln/>
        </p:spPr>
      </p:sp>
      <p:sp>
        <p:nvSpPr>
          <p:cNvPr id="6" name="Text 4"/>
          <p:cNvSpPr/>
          <p:nvPr/>
        </p:nvSpPr>
        <p:spPr>
          <a:xfrm>
            <a:off x="960120" y="1737360"/>
            <a:ext cx="3017520" cy="594360"/>
          </a:xfrm>
          <a:prstGeom prst="rect">
            <a:avLst/>
          </a:prstGeom>
          <a:noFill/>
          <a:ln/>
        </p:spPr>
        <p:txBody>
          <a:bodyPr wrap="square" rtlCol="0" anchor="ctr"/>
          <a:lstStyle/>
          <a:p>
            <a:pPr indent="0" marL="0">
              <a:buNone/>
            </a:pPr>
            <a:r>
              <a:rPr lang="en-US" sz="1700" b="1" dirty="0">
                <a:solidFill>
                  <a:srgbClr val="0B2F2A"/>
                </a:solidFill>
                <a:latin typeface="Arial" pitchFamily="34" charset="0"/>
                <a:ea typeface="Arial" pitchFamily="34" charset="-122"/>
                <a:cs typeface="Arial" pitchFamily="34" charset="-120"/>
              </a:rPr>
              <a:t>Phase 0 · Now</a:t>
            </a:r>
            <a:endParaRPr lang="en-US" sz="1700" dirty="0"/>
          </a:p>
        </p:txBody>
      </p:sp>
      <p:sp>
        <p:nvSpPr>
          <p:cNvPr id="7" name="Text 5"/>
          <p:cNvSpPr/>
          <p:nvPr/>
        </p:nvSpPr>
        <p:spPr>
          <a:xfrm>
            <a:off x="4114800" y="1737360"/>
            <a:ext cx="7315200" cy="594360"/>
          </a:xfrm>
          <a:prstGeom prst="rect">
            <a:avLst/>
          </a:prstGeom>
          <a:noFill/>
          <a:ln/>
        </p:spPr>
        <p:txBody>
          <a:bodyPr wrap="square" rtlCol="0" anchor="ctr"/>
          <a:lstStyle/>
          <a:p>
            <a:pPr indent="0" marL="0">
              <a:buNone/>
            </a:pPr>
            <a:r>
              <a:rPr lang="en-US" sz="1400" dirty="0">
                <a:solidFill>
                  <a:srgbClr val="55605B"/>
                </a:solidFill>
                <a:latin typeface="Arial" pitchFamily="34" charset="0"/>
                <a:ea typeface="Arial" pitchFamily="34" charset="-122"/>
                <a:cs typeface="Arial" pitchFamily="34" charset="-120"/>
              </a:rPr>
              <a:t>Pvt Ltd + DPIIT · trademark · DPDP baseline · GST</a:t>
            </a:r>
            <a:endParaRPr lang="en-US" sz="1400" dirty="0"/>
          </a:p>
        </p:txBody>
      </p:sp>
      <p:sp>
        <p:nvSpPr>
          <p:cNvPr id="8" name="Shape 6"/>
          <p:cNvSpPr/>
          <p:nvPr/>
        </p:nvSpPr>
        <p:spPr>
          <a:xfrm>
            <a:off x="640080" y="2697480"/>
            <a:ext cx="10881360" cy="960120"/>
          </a:xfrm>
          <a:prstGeom prst="roundRect">
            <a:avLst>
              <a:gd name="adj" fmla="val 7619"/>
            </a:avLst>
          </a:prstGeom>
          <a:solidFill>
            <a:srgbClr val="FFFFFF"/>
          </a:solidFill>
          <a:ln w="12700">
            <a:solidFill>
              <a:srgbClr val="E2DED3"/>
            </a:solidFill>
            <a:prstDash val="solid"/>
          </a:ln>
        </p:spPr>
      </p:sp>
      <p:sp>
        <p:nvSpPr>
          <p:cNvPr id="9" name="Shape 7"/>
          <p:cNvSpPr/>
          <p:nvPr/>
        </p:nvSpPr>
        <p:spPr>
          <a:xfrm>
            <a:off x="640080" y="2697480"/>
            <a:ext cx="128016" cy="960120"/>
          </a:xfrm>
          <a:prstGeom prst="rect">
            <a:avLst/>
          </a:prstGeom>
          <a:solidFill>
            <a:srgbClr val="2FBC9B"/>
          </a:solidFill>
          <a:ln/>
        </p:spPr>
      </p:sp>
      <p:sp>
        <p:nvSpPr>
          <p:cNvPr id="10" name="Text 8"/>
          <p:cNvSpPr/>
          <p:nvPr/>
        </p:nvSpPr>
        <p:spPr>
          <a:xfrm>
            <a:off x="960120" y="2880360"/>
            <a:ext cx="3017520" cy="594360"/>
          </a:xfrm>
          <a:prstGeom prst="rect">
            <a:avLst/>
          </a:prstGeom>
          <a:noFill/>
          <a:ln/>
        </p:spPr>
        <p:txBody>
          <a:bodyPr wrap="square" rtlCol="0" anchor="ctr"/>
          <a:lstStyle/>
          <a:p>
            <a:pPr indent="0" marL="0">
              <a:buNone/>
            </a:pPr>
            <a:r>
              <a:rPr lang="en-US" sz="1700" b="1" dirty="0">
                <a:solidFill>
                  <a:srgbClr val="0B2F2A"/>
                </a:solidFill>
                <a:latin typeface="Arial" pitchFamily="34" charset="0"/>
                <a:ea typeface="Arial" pitchFamily="34" charset="-122"/>
                <a:cs typeface="Arial" pitchFamily="34" charset="-120"/>
              </a:rPr>
              <a:t>Phase 1 · First revenue</a:t>
            </a:r>
            <a:endParaRPr lang="en-US" sz="1700" dirty="0"/>
          </a:p>
        </p:txBody>
      </p:sp>
      <p:sp>
        <p:nvSpPr>
          <p:cNvPr id="11" name="Text 9"/>
          <p:cNvSpPr/>
          <p:nvPr/>
        </p:nvSpPr>
        <p:spPr>
          <a:xfrm>
            <a:off x="4114800" y="2880360"/>
            <a:ext cx="7315200" cy="594360"/>
          </a:xfrm>
          <a:prstGeom prst="rect">
            <a:avLst/>
          </a:prstGeom>
          <a:noFill/>
          <a:ln/>
        </p:spPr>
        <p:txBody>
          <a:bodyPr wrap="square" rtlCol="0" anchor="ctr"/>
          <a:lstStyle/>
          <a:p>
            <a:pPr indent="0" marL="0">
              <a:buNone/>
            </a:pPr>
            <a:r>
              <a:rPr lang="en-US" sz="1400" dirty="0">
                <a:solidFill>
                  <a:srgbClr val="55605B"/>
                </a:solidFill>
                <a:latin typeface="Arial" pitchFamily="34" charset="0"/>
                <a:ea typeface="Arial" pitchFamily="34" charset="-122"/>
                <a:cs typeface="Arial" pitchFamily="34" charset="-120"/>
              </a:rPr>
              <a:t>AMFI Mutual Fund Distributor (ARN) — invest in funds in-app</a:t>
            </a:r>
            <a:endParaRPr lang="en-US" sz="1400" dirty="0"/>
          </a:p>
        </p:txBody>
      </p:sp>
      <p:sp>
        <p:nvSpPr>
          <p:cNvPr id="12" name="Shape 10"/>
          <p:cNvSpPr/>
          <p:nvPr/>
        </p:nvSpPr>
        <p:spPr>
          <a:xfrm>
            <a:off x="640080" y="3840480"/>
            <a:ext cx="10881360" cy="960120"/>
          </a:xfrm>
          <a:prstGeom prst="roundRect">
            <a:avLst>
              <a:gd name="adj" fmla="val 7619"/>
            </a:avLst>
          </a:prstGeom>
          <a:solidFill>
            <a:srgbClr val="FFFFFF"/>
          </a:solidFill>
          <a:ln w="12700">
            <a:solidFill>
              <a:srgbClr val="E2DED3"/>
            </a:solidFill>
            <a:prstDash val="solid"/>
          </a:ln>
        </p:spPr>
      </p:sp>
      <p:sp>
        <p:nvSpPr>
          <p:cNvPr id="13" name="Shape 11"/>
          <p:cNvSpPr/>
          <p:nvPr/>
        </p:nvSpPr>
        <p:spPr>
          <a:xfrm>
            <a:off x="640080" y="3840480"/>
            <a:ext cx="128016" cy="960120"/>
          </a:xfrm>
          <a:prstGeom prst="rect">
            <a:avLst/>
          </a:prstGeom>
          <a:solidFill>
            <a:srgbClr val="2FBC9B"/>
          </a:solidFill>
          <a:ln/>
        </p:spPr>
      </p:sp>
      <p:sp>
        <p:nvSpPr>
          <p:cNvPr id="14" name="Text 12"/>
          <p:cNvSpPr/>
          <p:nvPr/>
        </p:nvSpPr>
        <p:spPr>
          <a:xfrm>
            <a:off x="960120" y="4023360"/>
            <a:ext cx="3017520" cy="594360"/>
          </a:xfrm>
          <a:prstGeom prst="rect">
            <a:avLst/>
          </a:prstGeom>
          <a:noFill/>
          <a:ln/>
        </p:spPr>
        <p:txBody>
          <a:bodyPr wrap="square" rtlCol="0" anchor="ctr"/>
          <a:lstStyle/>
          <a:p>
            <a:pPr indent="0" marL="0">
              <a:buNone/>
            </a:pPr>
            <a:r>
              <a:rPr lang="en-US" sz="1700" b="1" dirty="0">
                <a:solidFill>
                  <a:srgbClr val="0B2F2A"/>
                </a:solidFill>
                <a:latin typeface="Arial" pitchFamily="34" charset="0"/>
                <a:ea typeface="Arial" pitchFamily="34" charset="-122"/>
                <a:cs typeface="Arial" pitchFamily="34" charset="-120"/>
              </a:rPr>
              <a:t>Phase 2 · Distribution</a:t>
            </a:r>
            <a:endParaRPr lang="en-US" sz="1700" dirty="0"/>
          </a:p>
        </p:txBody>
      </p:sp>
      <p:sp>
        <p:nvSpPr>
          <p:cNvPr id="15" name="Text 13"/>
          <p:cNvSpPr/>
          <p:nvPr/>
        </p:nvSpPr>
        <p:spPr>
          <a:xfrm>
            <a:off x="4114800" y="4023360"/>
            <a:ext cx="7315200" cy="594360"/>
          </a:xfrm>
          <a:prstGeom prst="rect">
            <a:avLst/>
          </a:prstGeom>
          <a:noFill/>
          <a:ln/>
        </p:spPr>
        <p:txBody>
          <a:bodyPr wrap="square" rtlCol="0" anchor="ctr"/>
          <a:lstStyle/>
          <a:p>
            <a:pPr indent="0" marL="0">
              <a:buNone/>
            </a:pPr>
            <a:r>
              <a:rPr lang="en-US" sz="1400" dirty="0">
                <a:solidFill>
                  <a:srgbClr val="55605B"/>
                </a:solidFill>
                <a:latin typeface="Arial" pitchFamily="34" charset="0"/>
                <a:ea typeface="Arial" pitchFamily="34" charset="-122"/>
                <a:cs typeface="Arial" pitchFamily="34" charset="-120"/>
              </a:rPr>
              <a:t>Insurance via licensed partner → later IRDAI Corporate Agent</a:t>
            </a:r>
            <a:endParaRPr lang="en-US" sz="1400" dirty="0"/>
          </a:p>
        </p:txBody>
      </p:sp>
      <p:sp>
        <p:nvSpPr>
          <p:cNvPr id="16" name="Shape 14"/>
          <p:cNvSpPr/>
          <p:nvPr/>
        </p:nvSpPr>
        <p:spPr>
          <a:xfrm>
            <a:off x="640080" y="4983480"/>
            <a:ext cx="10881360" cy="960120"/>
          </a:xfrm>
          <a:prstGeom prst="roundRect">
            <a:avLst>
              <a:gd name="adj" fmla="val 7619"/>
            </a:avLst>
          </a:prstGeom>
          <a:solidFill>
            <a:srgbClr val="FFFFFF"/>
          </a:solidFill>
          <a:ln w="12700">
            <a:solidFill>
              <a:srgbClr val="E2DED3"/>
            </a:solidFill>
            <a:prstDash val="solid"/>
          </a:ln>
        </p:spPr>
      </p:sp>
      <p:sp>
        <p:nvSpPr>
          <p:cNvPr id="17" name="Shape 15"/>
          <p:cNvSpPr/>
          <p:nvPr/>
        </p:nvSpPr>
        <p:spPr>
          <a:xfrm>
            <a:off x="640080" y="4983480"/>
            <a:ext cx="128016" cy="960120"/>
          </a:xfrm>
          <a:prstGeom prst="rect">
            <a:avLst/>
          </a:prstGeom>
          <a:solidFill>
            <a:srgbClr val="2FBC9B"/>
          </a:solidFill>
          <a:ln/>
        </p:spPr>
      </p:sp>
      <p:sp>
        <p:nvSpPr>
          <p:cNvPr id="18" name="Text 16"/>
          <p:cNvSpPr/>
          <p:nvPr/>
        </p:nvSpPr>
        <p:spPr>
          <a:xfrm>
            <a:off x="960120" y="5166360"/>
            <a:ext cx="3017520" cy="594360"/>
          </a:xfrm>
          <a:prstGeom prst="rect">
            <a:avLst/>
          </a:prstGeom>
          <a:noFill/>
          <a:ln/>
        </p:spPr>
        <p:txBody>
          <a:bodyPr wrap="square" rtlCol="0" anchor="ctr"/>
          <a:lstStyle/>
          <a:p>
            <a:pPr indent="0" marL="0">
              <a:buNone/>
            </a:pPr>
            <a:r>
              <a:rPr lang="en-US" sz="1700" b="1" dirty="0">
                <a:solidFill>
                  <a:srgbClr val="0B2F2A"/>
                </a:solidFill>
                <a:latin typeface="Arial" pitchFamily="34" charset="0"/>
                <a:ea typeface="Arial" pitchFamily="34" charset="-122"/>
                <a:cs typeface="Arial" pitchFamily="34" charset="-120"/>
              </a:rPr>
              <a:t>Phase 3 · Scale</a:t>
            </a:r>
            <a:endParaRPr lang="en-US" sz="1700" dirty="0"/>
          </a:p>
        </p:txBody>
      </p:sp>
      <p:sp>
        <p:nvSpPr>
          <p:cNvPr id="19" name="Text 17"/>
          <p:cNvSpPr/>
          <p:nvPr/>
        </p:nvSpPr>
        <p:spPr>
          <a:xfrm>
            <a:off x="4114800" y="5166360"/>
            <a:ext cx="7315200" cy="594360"/>
          </a:xfrm>
          <a:prstGeom prst="rect">
            <a:avLst/>
          </a:prstGeom>
          <a:noFill/>
          <a:ln/>
        </p:spPr>
        <p:txBody>
          <a:bodyPr wrap="square" rtlCol="0" anchor="ctr"/>
          <a:lstStyle/>
          <a:p>
            <a:pPr indent="0" marL="0">
              <a:buNone/>
            </a:pPr>
            <a:r>
              <a:rPr lang="en-US" sz="1400" dirty="0">
                <a:solidFill>
                  <a:srgbClr val="55605B"/>
                </a:solidFill>
                <a:latin typeface="Arial" pitchFamily="34" charset="0"/>
                <a:ea typeface="Arial" pitchFamily="34" charset="-122"/>
                <a:cs typeface="Arial" pitchFamily="34" charset="-120"/>
              </a:rPr>
              <a:t>ERI (tax e-file) · Account Aggregator (bank data) · SEBI RA/RIA · SDF data duties</a:t>
            </a:r>
            <a:endParaRPr lang="en-US" sz="1400" dirty="0"/>
          </a:p>
        </p:txBody>
      </p:sp>
      <p:sp>
        <p:nvSpPr>
          <p:cNvPr id="20" name="Text 18"/>
          <p:cNvSpPr/>
          <p:nvPr/>
        </p:nvSpPr>
        <p:spPr>
          <a:xfrm>
            <a:off x="640080" y="6172200"/>
            <a:ext cx="10972800" cy="365760"/>
          </a:xfrm>
          <a:prstGeom prst="rect">
            <a:avLst/>
          </a:prstGeom>
          <a:noFill/>
          <a:ln/>
        </p:spPr>
        <p:txBody>
          <a:bodyPr wrap="square" rtlCol="0" anchor="ctr"/>
          <a:lstStyle/>
          <a:p>
            <a:pPr indent="0" marL="0">
              <a:buNone/>
            </a:pPr>
            <a:r>
              <a:rPr lang="en-US" sz="1300" i="1" dirty="0">
                <a:solidFill>
                  <a:srgbClr val="55605B"/>
                </a:solidFill>
                <a:latin typeface="Arial" pitchFamily="34" charset="0"/>
                <a:ea typeface="Arial" pitchFamily="34" charset="-122"/>
                <a:cs typeface="Arial" pitchFamily="34" charset="-120"/>
              </a:rPr>
              <a:t>Principle: capital-light early, licence-heavy only once revenue and validation de-risk it.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2FBC9B"/>
          </a:solidFill>
          <a:ln/>
        </p:spPr>
      </p:sp>
      <p:sp>
        <p:nvSpPr>
          <p:cNvPr id="3" name="Text 1"/>
          <p:cNvSpPr/>
          <p:nvPr/>
        </p:nvSpPr>
        <p:spPr>
          <a:xfrm>
            <a:off x="640080" y="457200"/>
            <a:ext cx="10972800" cy="640080"/>
          </a:xfrm>
          <a:prstGeom prst="rect">
            <a:avLst/>
          </a:prstGeom>
          <a:noFill/>
          <a:ln/>
        </p:spPr>
        <p:txBody>
          <a:bodyPr wrap="square" rtlCol="0" anchor="ctr"/>
          <a:lstStyle/>
          <a:p>
            <a:pPr indent="0" marL="0">
              <a:buNone/>
            </a:pPr>
            <a:r>
              <a:rPr lang="en-US" sz="2800" b="1" dirty="0">
                <a:solidFill>
                  <a:srgbClr val="0B2F2A"/>
                </a:solidFill>
                <a:latin typeface="Arial" pitchFamily="34" charset="0"/>
                <a:ea typeface="Arial" pitchFamily="34" charset="-122"/>
                <a:cs typeface="Arial" pitchFamily="34" charset="-120"/>
              </a:rPr>
              <a:t>The sharpest risk: financial personal data</a:t>
            </a:r>
            <a:endParaRPr lang="en-US" sz="2800" dirty="0"/>
          </a:p>
        </p:txBody>
      </p:sp>
      <p:sp>
        <p:nvSpPr>
          <p:cNvPr id="4" name="Text 2"/>
          <p:cNvSpPr/>
          <p:nvPr/>
        </p:nvSpPr>
        <p:spPr>
          <a:xfrm>
            <a:off x="640080" y="1463040"/>
            <a:ext cx="7589520" cy="3657600"/>
          </a:xfrm>
          <a:prstGeom prst="rect">
            <a:avLst/>
          </a:prstGeom>
          <a:noFill/>
          <a:ln/>
        </p:spPr>
        <p:txBody>
          <a:bodyPr wrap="square" rtlCol="0" anchor="t"/>
          <a:lstStyle/>
          <a:p>
            <a:pPr indent="0" marL="0">
              <a:lnSpc>
                <a:spcPct val="125000"/>
              </a:lnSpc>
              <a:buNone/>
            </a:pPr>
            <a:r>
              <a:rPr lang="en-US" sz="1800" b="1" dirty="0">
                <a:solidFill>
                  <a:srgbClr val="0B2F2A"/>
                </a:solidFill>
                <a:latin typeface="Arial" pitchFamily="34" charset="0"/>
                <a:ea typeface="Arial" pitchFamily="34" charset="-122"/>
                <a:cs typeface="Arial" pitchFamily="34" charset="-120"/>
              </a:rPr>
              <a:t>This is the area we most want to get 100% right.
</a:t>
            </a:r>
            <a:pPr indent="0" marL="0">
              <a:lnSpc>
                <a:spcPct val="125000"/>
              </a:lnSpc>
              <a:buNone/>
            </a:pPr>
            <a:r>
              <a:rPr lang="en-US" sz="1500" dirty="0">
                <a:solidFill>
                  <a:srgbClr val="1A1A1A"/>
                </a:solidFill>
                <a:latin typeface="Arial" pitchFamily="34" charset="0"/>
                <a:ea typeface="Arial" pitchFamily="34" charset="-122"/>
                <a:cs typeface="Arial" pitchFamily="34" charset="-120"/>
              </a:rPr>
              <a:t>• PayWatch is a Data Fiduciary under the DPDP Act 2023 (Rules notified Nov 2025; substantive obligations phase in by ~mid-2027).
</a:t>
            </a:r>
            <a:pPr indent="0" marL="0">
              <a:lnSpc>
                <a:spcPct val="125000"/>
              </a:lnSpc>
              <a:buNone/>
            </a:pPr>
            <a:r>
              <a:rPr lang="en-US" sz="1500" dirty="0">
                <a:solidFill>
                  <a:srgbClr val="1A1A1A"/>
                </a:solidFill>
                <a:latin typeface="Arial" pitchFamily="34" charset="0"/>
                <a:ea typeface="Arial" pitchFamily="34" charset="-122"/>
                <a:cs typeface="Arial" pitchFamily="34" charset="-120"/>
              </a:rPr>
              <a:t>• Financial data is sensitive — explicit, purpose-limited consent required.
</a:t>
            </a:r>
            <a:pPr indent="0" marL="0">
              <a:lnSpc>
                <a:spcPct val="125000"/>
              </a:lnSpc>
              <a:buNone/>
            </a:pPr>
            <a:r>
              <a:rPr lang="en-US" sz="1500" dirty="0">
                <a:solidFill>
                  <a:srgbClr val="1A1A1A"/>
                </a:solidFill>
                <a:latin typeface="Arial" pitchFamily="34" charset="0"/>
                <a:ea typeface="Arial" pitchFamily="34" charset="-122"/>
                <a:cs typeface="Arial" pitchFamily="34" charset="-120"/>
              </a:rPr>
              <a:t>• At scale (~50 lakh users) we become a Significant Data Fiduciary — DPO, independent audit, annual DPIA, algorithmic due-diligence.
</a:t>
            </a:r>
            <a:pPr indent="0" marL="0">
              <a:lnSpc>
                <a:spcPct val="125000"/>
              </a:lnSpc>
              <a:buNone/>
            </a:pPr>
            <a:r>
              <a:rPr lang="en-US" sz="1500" dirty="0">
                <a:solidFill>
                  <a:srgbClr val="1A1A1A"/>
                </a:solidFill>
                <a:latin typeface="Arial" pitchFamily="34" charset="0"/>
                <a:ea typeface="Arial" pitchFamily="34" charset="-122"/>
                <a:cs typeface="Arial" pitchFamily="34" charset="-120"/>
              </a:rPr>
              <a:t>• RBI localisation prevails where stricter; all data stored in India already.
</a:t>
            </a:r>
            <a:endParaRPr lang="en-US" sz="1800" dirty="0"/>
          </a:p>
        </p:txBody>
      </p:sp>
      <p:sp>
        <p:nvSpPr>
          <p:cNvPr id="5" name="Shape 3"/>
          <p:cNvSpPr/>
          <p:nvPr/>
        </p:nvSpPr>
        <p:spPr>
          <a:xfrm>
            <a:off x="8503920" y="2011680"/>
            <a:ext cx="3017520" cy="2194560"/>
          </a:xfrm>
          <a:prstGeom prst="roundRect">
            <a:avLst>
              <a:gd name="adj" fmla="val 4167"/>
            </a:avLst>
          </a:prstGeom>
          <a:solidFill>
            <a:srgbClr val="FBEDE0"/>
          </a:solidFill>
          <a:ln w="12700">
            <a:solidFill>
              <a:srgbClr val="C77E1F"/>
            </a:solidFill>
            <a:prstDash val="solid"/>
          </a:ln>
        </p:spPr>
      </p:sp>
      <p:sp>
        <p:nvSpPr>
          <p:cNvPr id="6" name="Text 4"/>
          <p:cNvSpPr/>
          <p:nvPr/>
        </p:nvSpPr>
        <p:spPr>
          <a:xfrm>
            <a:off x="8732520" y="2286000"/>
            <a:ext cx="2560320" cy="365760"/>
          </a:xfrm>
          <a:prstGeom prst="rect">
            <a:avLst/>
          </a:prstGeom>
          <a:noFill/>
          <a:ln/>
        </p:spPr>
        <p:txBody>
          <a:bodyPr wrap="square" rtlCol="0" anchor="ctr"/>
          <a:lstStyle/>
          <a:p>
            <a:pPr indent="0" marL="0">
              <a:buNone/>
            </a:pPr>
            <a:r>
              <a:rPr lang="en-US" sz="1300" b="1" dirty="0">
                <a:solidFill>
                  <a:srgbClr val="C77E1F"/>
                </a:solidFill>
                <a:latin typeface="Arial" pitchFamily="34" charset="0"/>
                <a:ea typeface="Arial" pitchFamily="34" charset="-122"/>
                <a:cs typeface="Arial" pitchFamily="34" charset="-120"/>
              </a:rPr>
              <a:t>Penalty exposure</a:t>
            </a:r>
            <a:endParaRPr lang="en-US" sz="1300" dirty="0"/>
          </a:p>
        </p:txBody>
      </p:sp>
      <p:sp>
        <p:nvSpPr>
          <p:cNvPr id="7" name="Text 5"/>
          <p:cNvSpPr/>
          <p:nvPr/>
        </p:nvSpPr>
        <p:spPr>
          <a:xfrm>
            <a:off x="8732520" y="2743200"/>
            <a:ext cx="2560320" cy="640080"/>
          </a:xfrm>
          <a:prstGeom prst="rect">
            <a:avLst/>
          </a:prstGeom>
          <a:noFill/>
          <a:ln/>
        </p:spPr>
        <p:txBody>
          <a:bodyPr wrap="square" rtlCol="0" anchor="ctr"/>
          <a:lstStyle/>
          <a:p>
            <a:pPr indent="0" marL="0">
              <a:buNone/>
            </a:pPr>
            <a:r>
              <a:rPr lang="en-US" sz="3000" b="1" dirty="0">
                <a:solidFill>
                  <a:srgbClr val="8A5A12"/>
                </a:solidFill>
                <a:latin typeface="Arial" pitchFamily="34" charset="0"/>
                <a:ea typeface="Arial" pitchFamily="34" charset="-122"/>
                <a:cs typeface="Arial" pitchFamily="34" charset="-120"/>
              </a:rPr>
              <a:t>up to ₹250 Cr</a:t>
            </a:r>
            <a:endParaRPr lang="en-US" sz="3000" dirty="0"/>
          </a:p>
        </p:txBody>
      </p:sp>
      <p:sp>
        <p:nvSpPr>
          <p:cNvPr id="8" name="Text 6"/>
          <p:cNvSpPr/>
          <p:nvPr/>
        </p:nvSpPr>
        <p:spPr>
          <a:xfrm>
            <a:off x="8732520" y="3474720"/>
            <a:ext cx="2560320" cy="640080"/>
          </a:xfrm>
          <a:prstGeom prst="rect">
            <a:avLst/>
          </a:prstGeom>
          <a:noFill/>
          <a:ln/>
        </p:spPr>
        <p:txBody>
          <a:bodyPr wrap="square" rtlCol="0" anchor="t"/>
          <a:lstStyle/>
          <a:p>
            <a:pPr indent="0" marL="0">
              <a:buNone/>
            </a:pPr>
            <a:r>
              <a:rPr lang="en-US" sz="1200" dirty="0">
                <a:solidFill>
                  <a:srgbClr val="8A5A12"/>
                </a:solidFill>
                <a:latin typeface="Arial" pitchFamily="34" charset="0"/>
                <a:ea typeface="Arial" pitchFamily="34" charset="-122"/>
                <a:cs typeface="Arial" pitchFamily="34" charset="-120"/>
              </a:rPr>
              <a:t>for a Data-Fiduciary breach under the DPDP Act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2F2A"/>
        </a:solidFill>
      </p:bgPr>
    </p:bg>
    <p:spTree>
      <p:nvGrpSpPr>
        <p:cNvPr id="1" name=""/>
        <p:cNvGrpSpPr/>
        <p:nvPr/>
      </p:nvGrpSpPr>
      <p:grpSpPr>
        <a:xfrm>
          <a:off x="0" y="0"/>
          <a:ext cx="0" cy="0"/>
          <a:chOff x="0" y="0"/>
          <a:chExt cx="0" cy="0"/>
        </a:xfrm>
      </p:grpSpPr>
      <p:sp>
        <p:nvSpPr>
          <p:cNvPr id="2" name="Text 0"/>
          <p:cNvSpPr/>
          <p:nvPr/>
        </p:nvSpPr>
        <p:spPr>
          <a:xfrm>
            <a:off x="731520" y="731520"/>
            <a:ext cx="10058400" cy="640080"/>
          </a:xfrm>
          <a:prstGeom prst="rect">
            <a:avLst/>
          </a:prstGeom>
          <a:noFill/>
          <a:ln/>
        </p:spPr>
        <p:txBody>
          <a:bodyPr wrap="square" rtlCol="0" anchor="ctr"/>
          <a:lstStyle/>
          <a:p>
            <a:pPr indent="0" marL="0">
              <a:buNone/>
            </a:pPr>
            <a:r>
              <a:rPr lang="en-US" sz="3000" b="1" dirty="0">
                <a:solidFill>
                  <a:srgbClr val="FFFFFF"/>
                </a:solidFill>
                <a:latin typeface="Arial" pitchFamily="34" charset="0"/>
                <a:ea typeface="Arial" pitchFamily="34" charset="-122"/>
                <a:cs typeface="Arial" pitchFamily="34" charset="-120"/>
              </a:rPr>
              <a:t>What we need from you</a:t>
            </a:r>
            <a:endParaRPr lang="en-US" sz="3000" dirty="0"/>
          </a:p>
        </p:txBody>
      </p:sp>
      <p:sp>
        <p:nvSpPr>
          <p:cNvPr id="3" name="Text 1"/>
          <p:cNvSpPr/>
          <p:nvPr/>
        </p:nvSpPr>
        <p:spPr>
          <a:xfrm>
            <a:off x="822960" y="1737360"/>
            <a:ext cx="548640" cy="548640"/>
          </a:xfrm>
          <a:prstGeom prst="rect">
            <a:avLst/>
          </a:prstGeom>
          <a:solidFill>
            <a:srgbClr val="2FBC9B"/>
          </a:solidFill>
          <a:ln/>
        </p:spPr>
        <p:txBody>
          <a:bodyPr wrap="square" rtlCol="0" anchor="ctr"/>
          <a:lstStyle/>
          <a:p>
            <a:pPr algn="ctr" indent="0" marL="0">
              <a:buNone/>
            </a:pPr>
            <a:r>
              <a:rPr lang="en-US" sz="2200" b="1" dirty="0">
                <a:solidFill>
                  <a:srgbClr val="0B2F2A"/>
                </a:solidFill>
                <a:latin typeface="Arial" pitchFamily="34" charset="0"/>
                <a:ea typeface="Arial" pitchFamily="34" charset="-122"/>
                <a:cs typeface="Arial" pitchFamily="34" charset="-120"/>
              </a:rPr>
              <a:t>1</a:t>
            </a:r>
            <a:endParaRPr lang="en-US" sz="2200" dirty="0"/>
          </a:p>
        </p:txBody>
      </p:sp>
      <p:sp>
        <p:nvSpPr>
          <p:cNvPr id="4" name="Text 2"/>
          <p:cNvSpPr/>
          <p:nvPr/>
        </p:nvSpPr>
        <p:spPr>
          <a:xfrm>
            <a:off x="1645920" y="1691640"/>
            <a:ext cx="9692640" cy="822960"/>
          </a:xfrm>
          <a:prstGeom prst="rect">
            <a:avLst/>
          </a:prstGeom>
          <a:noFill/>
          <a:ln/>
        </p:spPr>
        <p:txBody>
          <a:bodyPr wrap="square" rtlCol="0" anchor="ctr"/>
          <a:lstStyle/>
          <a:p>
            <a:pPr indent="0" marL="0">
              <a:lnSpc>
                <a:spcPct val="110000"/>
              </a:lnSpc>
              <a:buNone/>
            </a:pPr>
            <a:r>
              <a:rPr lang="en-US" sz="1600" dirty="0">
                <a:solidFill>
                  <a:srgbClr val="E7EFEB"/>
                </a:solidFill>
                <a:latin typeface="Arial" pitchFamily="34" charset="0"/>
                <a:ea typeface="Arial" pitchFamily="34" charset="-122"/>
                <a:cs typeface="Arial" pitchFamily="34" charset="-120"/>
              </a:rPr>
              <a:t>Review our full path laydown (separate document) and tell us which routes are realistically workable — and in what sequence.</a:t>
            </a:r>
            <a:endParaRPr lang="en-US" sz="1600" dirty="0"/>
          </a:p>
        </p:txBody>
      </p:sp>
      <p:sp>
        <p:nvSpPr>
          <p:cNvPr id="5" name="Text 3"/>
          <p:cNvSpPr/>
          <p:nvPr/>
        </p:nvSpPr>
        <p:spPr>
          <a:xfrm>
            <a:off x="822960" y="2743200"/>
            <a:ext cx="548640" cy="548640"/>
          </a:xfrm>
          <a:prstGeom prst="rect">
            <a:avLst/>
          </a:prstGeom>
          <a:solidFill>
            <a:srgbClr val="2FBC9B"/>
          </a:solidFill>
          <a:ln/>
        </p:spPr>
        <p:txBody>
          <a:bodyPr wrap="square" rtlCol="0" anchor="ctr"/>
          <a:lstStyle/>
          <a:p>
            <a:pPr algn="ctr" indent="0" marL="0">
              <a:buNone/>
            </a:pPr>
            <a:r>
              <a:rPr lang="en-US" sz="2200" b="1" dirty="0">
                <a:solidFill>
                  <a:srgbClr val="0B2F2A"/>
                </a:solidFill>
                <a:latin typeface="Arial" pitchFamily="34" charset="0"/>
                <a:ea typeface="Arial" pitchFamily="34" charset="-122"/>
                <a:cs typeface="Arial" pitchFamily="34" charset="-120"/>
              </a:rPr>
              <a:t>2</a:t>
            </a:r>
            <a:endParaRPr lang="en-US" sz="2200" dirty="0"/>
          </a:p>
        </p:txBody>
      </p:sp>
      <p:sp>
        <p:nvSpPr>
          <p:cNvPr id="6" name="Text 4"/>
          <p:cNvSpPr/>
          <p:nvPr/>
        </p:nvSpPr>
        <p:spPr>
          <a:xfrm>
            <a:off x="1645920" y="2697480"/>
            <a:ext cx="9692640" cy="822960"/>
          </a:xfrm>
          <a:prstGeom prst="rect">
            <a:avLst/>
          </a:prstGeom>
          <a:noFill/>
          <a:ln/>
        </p:spPr>
        <p:txBody>
          <a:bodyPr wrap="square" rtlCol="0" anchor="ctr"/>
          <a:lstStyle/>
          <a:p>
            <a:pPr indent="0" marL="0">
              <a:lnSpc>
                <a:spcPct val="110000"/>
              </a:lnSpc>
              <a:buNone/>
            </a:pPr>
            <a:r>
              <a:rPr lang="en-US" sz="1600" dirty="0">
                <a:solidFill>
                  <a:srgbClr val="E7EFEB"/>
                </a:solidFill>
                <a:latin typeface="Arial" pitchFamily="34" charset="0"/>
                <a:ea typeface="Arial" pitchFamily="34" charset="-122"/>
                <a:cs typeface="Arial" pitchFamily="34" charset="-120"/>
              </a:rPr>
              <a:t>Handle the foundational work: incorporation and trademark (incl. the “PayWatch is already owned” question).</a:t>
            </a:r>
            <a:endParaRPr lang="en-US" sz="1600" dirty="0"/>
          </a:p>
        </p:txBody>
      </p:sp>
      <p:sp>
        <p:nvSpPr>
          <p:cNvPr id="7" name="Text 5"/>
          <p:cNvSpPr/>
          <p:nvPr/>
        </p:nvSpPr>
        <p:spPr>
          <a:xfrm>
            <a:off x="822960" y="3749040"/>
            <a:ext cx="548640" cy="548640"/>
          </a:xfrm>
          <a:prstGeom prst="rect">
            <a:avLst/>
          </a:prstGeom>
          <a:solidFill>
            <a:srgbClr val="2FBC9B"/>
          </a:solidFill>
          <a:ln/>
        </p:spPr>
        <p:txBody>
          <a:bodyPr wrap="square" rtlCol="0" anchor="ctr"/>
          <a:lstStyle/>
          <a:p>
            <a:pPr algn="ctr" indent="0" marL="0">
              <a:buNone/>
            </a:pPr>
            <a:r>
              <a:rPr lang="en-US" sz="2200" b="1" dirty="0">
                <a:solidFill>
                  <a:srgbClr val="0B2F2A"/>
                </a:solidFill>
                <a:latin typeface="Arial" pitchFamily="34" charset="0"/>
                <a:ea typeface="Arial" pitchFamily="34" charset="-122"/>
                <a:cs typeface="Arial" pitchFamily="34" charset="-120"/>
              </a:rPr>
              <a:t>3</a:t>
            </a:r>
            <a:endParaRPr lang="en-US" sz="2200" dirty="0"/>
          </a:p>
        </p:txBody>
      </p:sp>
      <p:sp>
        <p:nvSpPr>
          <p:cNvPr id="8" name="Text 6"/>
          <p:cNvSpPr/>
          <p:nvPr/>
        </p:nvSpPr>
        <p:spPr>
          <a:xfrm>
            <a:off x="1645920" y="3703320"/>
            <a:ext cx="9692640" cy="822960"/>
          </a:xfrm>
          <a:prstGeom prst="rect">
            <a:avLst/>
          </a:prstGeom>
          <a:noFill/>
          <a:ln/>
        </p:spPr>
        <p:txBody>
          <a:bodyPr wrap="square" rtlCol="0" anchor="ctr"/>
          <a:lstStyle/>
          <a:p>
            <a:pPr indent="0" marL="0">
              <a:lnSpc>
                <a:spcPct val="110000"/>
              </a:lnSpc>
              <a:buNone/>
            </a:pPr>
            <a:r>
              <a:rPr lang="en-US" sz="1600" dirty="0">
                <a:solidFill>
                  <a:srgbClr val="E7EFEB"/>
                </a:solidFill>
                <a:latin typeface="Arial" pitchFamily="34" charset="0"/>
                <a:ea typeface="Arial" pitchFamily="34" charset="-122"/>
                <a:cs typeface="Arial" pitchFamily="34" charset="-120"/>
              </a:rPr>
              <a:t>Guide the data-protection build and the licensing sequence from a legal/compliance perspective.</a:t>
            </a:r>
            <a:endParaRPr lang="en-US" sz="1600" dirty="0"/>
          </a:p>
        </p:txBody>
      </p:sp>
      <p:sp>
        <p:nvSpPr>
          <p:cNvPr id="9" name="Text 7"/>
          <p:cNvSpPr/>
          <p:nvPr/>
        </p:nvSpPr>
        <p:spPr>
          <a:xfrm>
            <a:off x="822960" y="4754880"/>
            <a:ext cx="548640" cy="548640"/>
          </a:xfrm>
          <a:prstGeom prst="rect">
            <a:avLst/>
          </a:prstGeom>
          <a:solidFill>
            <a:srgbClr val="2FBC9B"/>
          </a:solidFill>
          <a:ln/>
        </p:spPr>
        <p:txBody>
          <a:bodyPr wrap="square" rtlCol="0" anchor="ctr"/>
          <a:lstStyle/>
          <a:p>
            <a:pPr algn="ctr" indent="0" marL="0">
              <a:buNone/>
            </a:pPr>
            <a:r>
              <a:rPr lang="en-US" sz="2200" b="1" dirty="0">
                <a:solidFill>
                  <a:srgbClr val="0B2F2A"/>
                </a:solidFill>
                <a:latin typeface="Arial" pitchFamily="34" charset="0"/>
                <a:ea typeface="Arial" pitchFamily="34" charset="-122"/>
                <a:cs typeface="Arial" pitchFamily="34" charset="-120"/>
              </a:rPr>
              <a:t>4</a:t>
            </a:r>
            <a:endParaRPr lang="en-US" sz="2200" dirty="0"/>
          </a:p>
        </p:txBody>
      </p:sp>
      <p:sp>
        <p:nvSpPr>
          <p:cNvPr id="10" name="Text 8"/>
          <p:cNvSpPr/>
          <p:nvPr/>
        </p:nvSpPr>
        <p:spPr>
          <a:xfrm>
            <a:off x="1645920" y="4709160"/>
            <a:ext cx="9692640" cy="822960"/>
          </a:xfrm>
          <a:prstGeom prst="rect">
            <a:avLst/>
          </a:prstGeom>
          <a:noFill/>
          <a:ln/>
        </p:spPr>
        <p:txBody>
          <a:bodyPr wrap="square" rtlCol="0" anchor="ctr"/>
          <a:lstStyle/>
          <a:p>
            <a:pPr indent="0" marL="0">
              <a:lnSpc>
                <a:spcPct val="110000"/>
              </a:lnSpc>
              <a:buNone/>
            </a:pPr>
            <a:r>
              <a:rPr lang="en-US" sz="1600" dirty="0">
                <a:solidFill>
                  <a:srgbClr val="E7EFEB"/>
                </a:solidFill>
                <a:latin typeface="Arial" pitchFamily="34" charset="0"/>
                <a:ea typeface="Arial" pitchFamily="34" charset="-122"/>
                <a:cs typeface="Arial" pitchFamily="34" charset="-120"/>
              </a:rPr>
              <a:t>Flag anything we have missed — in this domain a 0.1% compliance gap is unacceptable.</a:t>
            </a:r>
            <a:endParaRPr lang="en-US" sz="1600" dirty="0"/>
          </a:p>
        </p:txBody>
      </p:sp>
      <p:sp>
        <p:nvSpPr>
          <p:cNvPr id="11" name="Text 9"/>
          <p:cNvSpPr/>
          <p:nvPr/>
        </p:nvSpPr>
        <p:spPr>
          <a:xfrm>
            <a:off x="731520" y="6035040"/>
            <a:ext cx="10789920" cy="457200"/>
          </a:xfrm>
          <a:prstGeom prst="rect">
            <a:avLst/>
          </a:prstGeom>
          <a:noFill/>
          <a:ln/>
        </p:spPr>
        <p:txBody>
          <a:bodyPr wrap="square" rtlCol="0" anchor="ctr"/>
          <a:lstStyle/>
          <a:p>
            <a:pPr indent="0" marL="0">
              <a:buNone/>
            </a:pPr>
            <a:r>
              <a:rPr lang="en-US" sz="1300" i="1" dirty="0">
                <a:solidFill>
                  <a:srgbClr val="8FA69D"/>
                </a:solidFill>
                <a:latin typeface="Arial" pitchFamily="34" charset="0"/>
                <a:ea typeface="Arial" pitchFamily="34" charset="-122"/>
                <a:cs typeface="Arial" pitchFamily="34" charset="-120"/>
              </a:rPr>
              <a:t>The detailed path-by-path analysis and grey areas are in “PayWatch — Regulatory, Licensing &amp; Data-Protection Roadmap”.</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2026-09-12T04:41:24Z</dcterms:created>
  <dcterms:modified xsi:type="dcterms:W3CDTF">2026-09-12T04:41:24Z</dcterms:modified>
</cp:coreProperties>
</file>