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dream" id="{ae556629-e560-fe8f-7300-9dd4a1c29792}">
          <p14:sldIdLst>
            <p14:sldId id="256"/>
            <p14:sldId id="257"/>
            <p14:sldId id="258"/>
          </p14:sldIdLst>
        </p14:section>
        <p14:section name="The product" id="{bdcad5c9-4264-7189-0d59-752cc9ac49c6}">
          <p14:sldIdLst>
            <p14:sldId id="259"/>
            <p14:sldId id="260"/>
            <p14:sldId id="261"/>
          </p14:sldIdLst>
        </p14:section>
        <p14:section name="The business" id="{22ec2c6b-ef77-a876-1aac-07678e304d08}">
          <p14:sldIdLst>
            <p14:sldId id="262"/>
            <p14:sldId id="263"/>
            <p14:sldId id="264"/>
          </p14:sldIdLst>
        </p14:section>
        <p14:section name="Where we are" id="{ae003109-41cd-3d82-d398-de9a9fbf6dd3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BC9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CE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Saved</c:v>
                </c:pt>
                <c:pt idx="1">
                  <c:v>To go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line: "Tell us your dreams. We'll handle the money." Introduce yourself in one breath: 21, building PayWatch, incubated at MAHE IC, XElevate Cohort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pains. Land the last one: dreams stay vague. Then the research line about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Daisy feel real. Everything in the product is designed for 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idea: start from the dream, plan backwards. Nothing about dreams is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demo here if possible: paywatch.in, one-tap demo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one founder built all of this. It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 only. Then the beachhead: Daisy.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one-liner: FOLO shows what you have, Jumpp helps you transact, PayWatch tells you what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Subscription proves value; distribution is where neobanks and money apps make real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stage builds trust with this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the barrier users named; this is our answer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first, then the legal setup that unlocks partners, then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asks, then invite them to try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PayWatch  ·  paywatch.in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PayWatch  ·  paywatch.in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3DE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pPr indent="0" marL="0">
              <a:buNone/>
            </a:pPr>
            <a:r>
              <a:rPr lang="en-US" sz="26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Tell us your dreams.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We’ll handle the money.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023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One money brain that turns every dream into a plan — for India’s first earners.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Yash Saini, Founder   ·   Incubated at MAHE Innovation Centre   ·   XElevate Ventures Cohort 3</a:t>
            </a:r>
            <a:endParaRPr lang="en-US" sz="1300" dirty="0"/>
          </a:p>
        </p:txBody>
      </p:sp>
      <p:sp>
        <p:nvSpPr>
          <p:cNvPr id="6" name="orb halo"/>
          <p:cNvSpPr/>
          <p:nvPr/>
        </p:nvSpPr>
        <p:spPr>
          <a:xfrm>
            <a:off x="8078724" y="1815084"/>
            <a:ext cx="2953512" cy="2953512"/>
          </a:xfrm>
          <a:prstGeom prst="ellipse">
            <a:avLst/>
          </a:prstGeom>
          <a:solidFill>
            <a:srgbClr val="2FBC9B">
              <a:alpha val="8000"/>
            </a:srgbClr>
          </a:solidFill>
          <a:ln w="12700">
            <a:solidFill>
              <a:srgbClr val="2FBC9B">
                <a:alpha val="0"/>
              </a:srgbClr>
            </a:solidFill>
            <a:prstDash val="solid"/>
          </a:ln>
        </p:spPr>
      </p:sp>
      <p:sp>
        <p:nvSpPr>
          <p:cNvPr id="7" name="orbit 1"/>
          <p:cNvSpPr/>
          <p:nvPr/>
        </p:nvSpPr>
        <p:spPr>
          <a:xfrm>
            <a:off x="7301484" y="1928172"/>
            <a:ext cx="4507992" cy="2727335"/>
          </a:xfrm>
          <a:prstGeom prst="ellipse">
            <a:avLst/>
          </a:prstGeom>
          <a:solidFill>
            <a:srgbClr val="07211D">
              <a:alpha val="0"/>
            </a:srgbClr>
          </a:solidFill>
          <a:ln w="12700">
            <a:solidFill>
              <a:srgbClr val="83DEC7">
                <a:alpha val="45000"/>
              </a:srgbClr>
            </a:solidFill>
            <a:prstDash val="solid"/>
          </a:ln>
        </p:spPr>
      </p:sp>
      <p:sp>
        <p:nvSpPr>
          <p:cNvPr id="8" name="orbit 2"/>
          <p:cNvSpPr/>
          <p:nvPr/>
        </p:nvSpPr>
        <p:spPr>
          <a:xfrm>
            <a:off x="7728966" y="2437945"/>
            <a:ext cx="3653028" cy="1707791"/>
          </a:xfrm>
          <a:prstGeom prst="ellipse">
            <a:avLst/>
          </a:prstGeom>
          <a:solidFill>
            <a:srgbClr val="07211D">
              <a:alpha val="0"/>
            </a:srgbClr>
          </a:solidFill>
          <a:ln w="12700">
            <a:solidFill>
              <a:srgbClr val="83DEC7">
                <a:alpha val="37000"/>
              </a:srgbClr>
            </a:solidFill>
            <a:prstDash val="solid"/>
          </a:ln>
        </p:spPr>
      </p:sp>
      <p:sp>
        <p:nvSpPr>
          <p:cNvPr id="9" name="orbit 3"/>
          <p:cNvSpPr/>
          <p:nvPr/>
        </p:nvSpPr>
        <p:spPr>
          <a:xfrm>
            <a:off x="8156448" y="2814770"/>
            <a:ext cx="2798064" cy="954140"/>
          </a:xfrm>
          <a:prstGeom prst="ellipse">
            <a:avLst/>
          </a:prstGeom>
          <a:solidFill>
            <a:srgbClr val="07211D">
              <a:alpha val="0"/>
            </a:srgbClr>
          </a:solidFill>
          <a:ln w="12700">
            <a:solidFill>
              <a:srgbClr val="83DEC7">
                <a:alpha val="29000"/>
              </a:srgbClr>
            </a:solidFill>
            <a:prstDash val="solid"/>
          </a:ln>
        </p:spPr>
      </p:sp>
      <p:sp>
        <p:nvSpPr>
          <p:cNvPr id="10" name="orb core"/>
          <p:cNvSpPr/>
          <p:nvPr/>
        </p:nvSpPr>
        <p:spPr>
          <a:xfrm>
            <a:off x="8778240" y="2514600"/>
            <a:ext cx="1554480" cy="1554480"/>
          </a:xfrm>
          <a:prstGeom prst="ellipse">
            <a:avLst/>
          </a:prstGeom>
          <a:solidFill>
            <a:srgbClr val="2FBC9B"/>
          </a:solidFill>
          <a:ln w="25400">
            <a:solidFill>
              <a:srgbClr val="83DEC7"/>
            </a:solidFill>
            <a:prstDash val="solid"/>
          </a:ln>
        </p:spPr>
      </p:sp>
      <p:sp>
        <p:nvSpPr>
          <p:cNvPr id="11" name="orb shine"/>
          <p:cNvSpPr/>
          <p:nvPr/>
        </p:nvSpPr>
        <p:spPr>
          <a:xfrm>
            <a:off x="9073591" y="2747772"/>
            <a:ext cx="544068" cy="427482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dream planet 1"/>
          <p:cNvSpPr/>
          <p:nvPr/>
        </p:nvSpPr>
        <p:spPr>
          <a:xfrm>
            <a:off x="11513896" y="2627071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dream planet 2"/>
          <p:cNvSpPr/>
          <p:nvPr/>
        </p:nvSpPr>
        <p:spPr>
          <a:xfrm>
            <a:off x="7664844" y="3330702"/>
            <a:ext cx="310896" cy="310896"/>
          </a:xfrm>
          <a:prstGeom prst="ellipse">
            <a:avLst/>
          </a:prstGeom>
          <a:solidFill>
            <a:srgbClr val="E5705F"/>
          </a:solidFill>
          <a:ln w="12700">
            <a:solidFill>
              <a:srgbClr val="E5705F"/>
            </a:solidFill>
            <a:prstDash val="solid"/>
          </a:ln>
        </p:spPr>
      </p:sp>
      <p:sp>
        <p:nvSpPr>
          <p:cNvPr id="14" name="dream planet 3"/>
          <p:cNvSpPr/>
          <p:nvPr/>
        </p:nvSpPr>
        <p:spPr>
          <a:xfrm>
            <a:off x="10599725" y="3558845"/>
            <a:ext cx="274320" cy="274320"/>
          </a:xfrm>
          <a:prstGeom prst="ellipse">
            <a:avLst/>
          </a:prstGeom>
          <a:solidFill>
            <a:srgbClr val="46C9E0"/>
          </a:solidFill>
          <a:ln w="12700">
            <a:solidFill>
              <a:srgbClr val="46C9E0"/>
            </a:solidFill>
            <a:prstDash val="solid"/>
          </a:ln>
        </p:spPr>
      </p:sp>
      <p:sp>
        <p:nvSpPr>
          <p:cNvPr id="15" name="dream planet 4"/>
          <p:cNvSpPr/>
          <p:nvPr/>
        </p:nvSpPr>
        <p:spPr>
          <a:xfrm>
            <a:off x="8513635" y="2784348"/>
            <a:ext cx="237744" cy="237744"/>
          </a:xfrm>
          <a:prstGeom prst="ellipse">
            <a:avLst/>
          </a:prstGeom>
          <a:solidFill>
            <a:srgbClr val="83DEC7"/>
          </a:solidFill>
          <a:ln w="12700">
            <a:solidFill>
              <a:srgbClr val="83DEC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First salary, big dreams — and no one to ask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Young earners know what they want. Nobody tells them how to get there.</a:t>
            </a:r>
            <a:endParaRPr lang="en-US" sz="18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1965960"/>
            <a:ext cx="3474720" cy="324612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5" name="Apps track, they don’t act circle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6" name="Apps track, they don’t act icon" descr="Apps track, they don’t 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4377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track, they don’t act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Money apps show charts of the past. People stop opening them within weeks because nothing tells them what to do next.</a:t>
            </a:r>
            <a:endParaRPr lang="en-US" sz="1400" dirty="0"/>
          </a:p>
        </p:txBody>
      </p:sp>
      <p:sp>
        <p:nvSpPr>
          <p:cNvPr id="9" name="problem card 2"/>
          <p:cNvSpPr/>
          <p:nvPr/>
        </p:nvSpPr>
        <p:spPr>
          <a:xfrm>
            <a:off x="4297680" y="1965960"/>
            <a:ext cx="3474720" cy="324612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0" name="Advice is out of reach circle"/>
          <p:cNvSpPr/>
          <p:nvPr/>
        </p:nvSpPr>
        <p:spPr>
          <a:xfrm>
            <a:off x="4617720" y="2240280"/>
            <a:ext cx="731520" cy="73152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11" name="Advice is out of reach icon" descr="Advice is out of rea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43779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Advice is out of reach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 and advisors are costly and built for the wealthy, not for someone on their first ₹40,000 salary.</a:t>
            </a:r>
            <a:endParaRPr lang="en-US" sz="1400" dirty="0"/>
          </a:p>
        </p:txBody>
      </p:sp>
      <p:sp>
        <p:nvSpPr>
          <p:cNvPr id="14" name="problem card 3"/>
          <p:cNvSpPr/>
          <p:nvPr/>
        </p:nvSpPr>
        <p:spPr>
          <a:xfrm>
            <a:off x="8046720" y="1965960"/>
            <a:ext cx="3474720" cy="324612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5" name="Dreams stay vague circle"/>
          <p:cNvSpPr/>
          <p:nvPr/>
        </p:nvSpPr>
        <p:spPr>
          <a:xfrm>
            <a:off x="8366760" y="2240280"/>
            <a:ext cx="731520" cy="73152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16" name="Dreams stay vague icon" descr="Dreams stay vag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43779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Dreams stay vague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“Someday Bali” never becomes a number, a date or a monthly plan, so it quietly never happens.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From our research: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trust is the barrier — only ~10% would pay without trying first (56 interviews).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Meet Daisy, our first user</a:t>
            </a:r>
            <a:endParaRPr lang="en-US" sz="3400" dirty="0"/>
          </a:p>
        </p:txBody>
      </p:sp>
      <p:sp>
        <p:nvSpPr>
          <p:cNvPr id="3" name="persona card"/>
          <p:cNvSpPr/>
          <p:nvPr/>
        </p:nvSpPr>
        <p:spPr>
          <a:xfrm>
            <a:off x="548640" y="1463040"/>
            <a:ext cx="3291840" cy="4480560"/>
          </a:xfrm>
          <a:prstGeom prst="roundRect">
            <a:avLst>
              <a:gd name="adj" fmla="val 4167"/>
            </a:avLst>
          </a:prstGeom>
          <a:solidFill>
            <a:srgbClr val="0B2F2A"/>
          </a:solidFill>
          <a:ln w="9525">
            <a:solidFill>
              <a:srgbClr val="0B2F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4" name="avatar"/>
          <p:cNvSpPr/>
          <p:nvPr/>
        </p:nvSpPr>
        <p:spPr>
          <a:xfrm>
            <a:off x="1508760" y="1783080"/>
            <a:ext cx="1371600" cy="1371600"/>
          </a:xfrm>
          <a:prstGeom prst="ellipse">
            <a:avLst/>
          </a:prstGeom>
          <a:solidFill>
            <a:srgbClr val="2FBC9B"/>
          </a:solidFill>
          <a:ln w="25400">
            <a:solidFill>
              <a:srgbClr val="83DE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Daisy, 24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First job · tier-2 city · phone-first · no advisor · thinks in Hinglish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Age band: 22–30 first earners, small-town and metro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dreams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01168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trip with friends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new laptop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Health cover for her parents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Her own café, someday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scares her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01168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much should I save?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Tax and insurance jargon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Apps that push products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Getting it wrong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1508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she wants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01168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Tell me what to do next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 rupees and dates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 my language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Without selling to 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63"/>
                </a:solidFill>
              </a:rPr>
              <a:t>Built from 20 conversations, 49 surveys and 56 interviews by our research team.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money brain that turns every dream into a plan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91640"/>
            <a:ext cx="3429000" cy="3291840"/>
          </a:xfrm>
          <a:prstGeom prst="roundRect">
            <a:avLst>
              <a:gd name="adj" fmla="val 4167"/>
            </a:avLst>
          </a:prstGeom>
          <a:solidFill>
            <a:srgbClr val="0F3D34"/>
          </a:solidFill>
          <a:ln w="9525">
            <a:solidFill>
              <a:srgbClr val="0F3D3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4" name="1  Tell it circle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5" name="1  Tell it icon" descr="1  Tell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21758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Tell it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74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Say a dream, upload a payslip or a bank statement. That’s the only work you do.</a:t>
            </a:r>
            <a:endParaRPr lang="en-US" sz="1500" dirty="0"/>
          </a:p>
        </p:txBody>
      </p:sp>
      <p:sp>
        <p:nvSpPr>
          <p:cNvPr id="8" name="arrow 1"/>
          <p:cNvSpPr/>
          <p:nvPr/>
        </p:nvSpPr>
        <p:spPr>
          <a:xfrm>
            <a:off x="4041648" y="3154680"/>
            <a:ext cx="292608" cy="365760"/>
          </a:xfrm>
          <a:prstGeom prst="rightArrow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4389120" y="1691640"/>
            <a:ext cx="3429000" cy="3291840"/>
          </a:xfrm>
          <a:prstGeom prst="roundRect">
            <a:avLst>
              <a:gd name="adj" fmla="val 4167"/>
            </a:avLst>
          </a:prstGeom>
          <a:solidFill>
            <a:srgbClr val="0F3D34"/>
          </a:solidFill>
          <a:ln w="9525">
            <a:solidFill>
              <a:srgbClr val="0F3D3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0" name="2  It plans circle"/>
          <p:cNvSpPr/>
          <p:nvPr/>
        </p:nvSpPr>
        <p:spPr>
          <a:xfrm>
            <a:off x="4709160" y="1965960"/>
            <a:ext cx="777240" cy="77724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1" name="2  It plans icon" descr="2  It pl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015" y="21758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It plans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474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Every rupee gets a job: living costs, a safety net, investing, your dreams — and guilt-free money.</a:t>
            </a:r>
            <a:endParaRPr lang="en-US" sz="1500" dirty="0"/>
          </a:p>
        </p:txBody>
      </p:sp>
      <p:sp>
        <p:nvSpPr>
          <p:cNvPr id="14" name="arrow 2"/>
          <p:cNvSpPr/>
          <p:nvPr/>
        </p:nvSpPr>
        <p:spPr>
          <a:xfrm>
            <a:off x="7882128" y="3154680"/>
            <a:ext cx="292608" cy="365760"/>
          </a:xfrm>
          <a:prstGeom prst="rightArrow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8229600" y="1691640"/>
            <a:ext cx="3429000" cy="3291840"/>
          </a:xfrm>
          <a:prstGeom prst="roundRect">
            <a:avLst>
              <a:gd name="adj" fmla="val 4167"/>
            </a:avLst>
          </a:prstGeom>
          <a:solidFill>
            <a:srgbClr val="0F3D34"/>
          </a:solidFill>
          <a:ln w="9525">
            <a:solidFill>
              <a:srgbClr val="0F3D3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6" name="3  It runs itself circle"/>
          <p:cNvSpPr/>
          <p:nvPr/>
        </p:nvSpPr>
        <p:spPr>
          <a:xfrm>
            <a:off x="8549640" y="1965960"/>
            <a:ext cx="777240" cy="77724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7" name="3  It runs itself icon" descr="3  It runs itsel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495" y="217581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496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It runs itself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549640" y="3474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 raise, a bonus, a new EMI: the plan rewrites itself and only nudges you when something needs you.</a:t>
            </a:r>
            <a:endParaRPr lang="en-US" sz="1500" dirty="0"/>
          </a:p>
        </p:txBody>
      </p:sp>
      <p:sp>
        <p:nvSpPr>
          <p:cNvPr id="20" name="background engines"/>
          <p:cNvSpPr/>
          <p:nvPr/>
        </p:nvSpPr>
        <p:spPr>
          <a:xfrm>
            <a:off x="548640" y="5303520"/>
            <a:ext cx="11109960" cy="777240"/>
          </a:xfrm>
          <a:prstGeom prst="roundRect">
            <a:avLst>
              <a:gd name="adj" fmla="val 17647"/>
            </a:avLst>
          </a:prstGeom>
          <a:solidFill>
            <a:srgbClr val="0B2F2A"/>
          </a:solidFill>
          <a:ln w="9525">
            <a:solidFill>
              <a:srgbClr val="2FBC9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303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Quietly in the background: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tax (both regimes, ITR prepared)  ·  insurance cover  ·  category-level investing  ·  money health score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3DE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Say it like you’d tell a friend</a:t>
            </a:r>
            <a:endParaRPr lang="en-US" sz="3400" dirty="0"/>
          </a:p>
        </p:txBody>
      </p:sp>
      <p:sp>
        <p:nvSpPr>
          <p:cNvPr id="3" name="user message"/>
          <p:cNvSpPr/>
          <p:nvPr/>
        </p:nvSpPr>
        <p:spPr>
          <a:xfrm>
            <a:off x="1463040" y="1463040"/>
            <a:ext cx="5120640" cy="566928"/>
          </a:xfrm>
          <a:prstGeom prst="roundRect">
            <a:avLst>
              <a:gd name="adj" fmla="val 29032"/>
            </a:avLst>
          </a:prstGeom>
          <a:solidFill>
            <a:srgbClr val="2FBC9B"/>
          </a:solidFill>
          <a:ln w="9525">
            <a:solidFill>
              <a:srgbClr val="2FBC9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91640" y="15179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 want to go to Bali next year with my friends</a:t>
            </a:r>
            <a:endParaRPr lang="en-US" sz="1400" dirty="0"/>
          </a:p>
        </p:txBody>
      </p:sp>
      <p:sp>
        <p:nvSpPr>
          <p:cNvPr id="5" name="paywatch reply"/>
          <p:cNvSpPr/>
          <p:nvPr/>
        </p:nvSpPr>
        <p:spPr>
          <a:xfrm>
            <a:off x="548640" y="2148840"/>
            <a:ext cx="6035040" cy="960120"/>
          </a:xfrm>
          <a:prstGeom prst="roundRect">
            <a:avLst>
              <a:gd name="adj" fmla="val 17143"/>
            </a:avLst>
          </a:prstGeom>
          <a:solidFill>
            <a:srgbClr val="EAF6F2"/>
          </a:solidFill>
          <a:ln w="9525">
            <a:solidFill>
              <a:srgbClr val="D7E4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03704"/>
            <a:ext cx="5577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Added Bali trip — about ₹1.5L.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I’ve set aside ₹40,000 of your spare cash. ₹9,000 a month gets you there by July 2027.</a:t>
            </a:r>
            <a:endParaRPr lang="en-US" sz="1400" dirty="0"/>
          </a:p>
        </p:txBody>
      </p:sp>
      <p:sp>
        <p:nvSpPr>
          <p:cNvPr id="7" name="user message"/>
          <p:cNvSpPr/>
          <p:nvPr/>
        </p:nvSpPr>
        <p:spPr>
          <a:xfrm>
            <a:off x="1463040" y="3337560"/>
            <a:ext cx="5120640" cy="566928"/>
          </a:xfrm>
          <a:prstGeom prst="roundRect">
            <a:avLst>
              <a:gd name="adj" fmla="val 29032"/>
            </a:avLst>
          </a:prstGeom>
          <a:solidFill>
            <a:srgbClr val="2FBC9B"/>
          </a:solidFill>
          <a:ln w="9525">
            <a:solidFill>
              <a:srgbClr val="2FBC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3392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 I afford a ₹2L bike this year?</a:t>
            </a:r>
            <a:endParaRPr lang="en-US" sz="1400" dirty="0"/>
          </a:p>
        </p:txBody>
      </p:sp>
      <p:sp>
        <p:nvSpPr>
          <p:cNvPr id="9" name="paywatch reply"/>
          <p:cNvSpPr/>
          <p:nvPr/>
        </p:nvSpPr>
        <p:spPr>
          <a:xfrm>
            <a:off x="548640" y="4023360"/>
            <a:ext cx="6035040" cy="960120"/>
          </a:xfrm>
          <a:prstGeom prst="roundRect">
            <a:avLst>
              <a:gd name="adj" fmla="val 17143"/>
            </a:avLst>
          </a:prstGeom>
          <a:solidFill>
            <a:srgbClr val="EAF6F2"/>
          </a:solidFill>
          <a:ln w="9525">
            <a:solidFill>
              <a:srgbClr val="D7E4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78224"/>
            <a:ext cx="5577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It’s a stretch.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would push Bali back 3 months. Wait till March, or put ₹50k down now and it’s a yes.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English  ·  हिंदी  ·  Hinglish  ·  chat or hands-free voice</a:t>
            </a:r>
            <a:endParaRPr lang="en-US" sz="1400" dirty="0"/>
          </a:p>
        </p:txBody>
      </p:sp>
      <p:sp>
        <p:nvSpPr>
          <p:cNvPr id="12" name="dream card mock"/>
          <p:cNvSpPr/>
          <p:nvPr/>
        </p:nvSpPr>
        <p:spPr>
          <a:xfrm>
            <a:off x="7223760" y="1463040"/>
            <a:ext cx="4434840" cy="4343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3" name="dream art"/>
          <p:cNvSpPr/>
          <p:nvPr/>
        </p:nvSpPr>
        <p:spPr>
          <a:xfrm>
            <a:off x="7223760" y="1463040"/>
            <a:ext cx="4434840" cy="1234440"/>
          </a:xfrm>
          <a:prstGeom prst="roundRect">
            <a:avLst>
              <a:gd name="adj" fmla="val 11111"/>
            </a:avLst>
          </a:prstGeom>
          <a:solidFill>
            <a:srgbClr val="E5705F"/>
          </a:solidFill>
          <a:ln w="12700">
            <a:solidFill>
              <a:srgbClr val="E5705F"/>
            </a:solidFill>
            <a:prstDash val="solid"/>
          </a:ln>
        </p:spPr>
      </p:sp>
      <p:pic>
        <p:nvPicPr>
          <p:cNvPr id="14" name="trip icon" descr="Tr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691640"/>
            <a:ext cx="731520" cy="7315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Bali trip</a:t>
            </a:r>
            <a:endParaRPr lang="en-US" sz="2200" dirty="0"/>
          </a:p>
        </p:txBody>
      </p:sp>
      <p:sp>
        <p:nvSpPr>
          <p:cNvPr id="16" name="status chip"/>
          <p:cNvSpPr/>
          <p:nvPr/>
        </p:nvSpPr>
        <p:spPr>
          <a:xfrm>
            <a:off x="7543800" y="3383280"/>
            <a:ext cx="1097280" cy="310896"/>
          </a:xfrm>
          <a:prstGeom prst="roundRect">
            <a:avLst>
              <a:gd name="adj" fmla="val 29412"/>
            </a:avLst>
          </a:prstGeom>
          <a:solidFill>
            <a:srgbClr val="EAF6F2"/>
          </a:solidFill>
          <a:ln w="12700">
            <a:solidFill>
              <a:srgbClr val="EAF6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43800" y="3383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On track</a:t>
            </a:r>
            <a:endParaRPr lang="en-US" sz="1100" dirty="0"/>
          </a:p>
        </p:txBody>
      </p:sp>
      <p:graphicFrame>
        <p:nvGraphicFramePr>
          <p:cNvPr id="18" name="progress ring" descr=""/>
          <p:cNvGraphicFramePr/>
          <p:nvPr/>
        </p:nvGraphicFramePr>
        <p:xfrm>
          <a:off x="10058400" y="2788920"/>
          <a:ext cx="1371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05840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40%</a:t>
            </a:r>
            <a:endParaRPr lang="en-US" sz="1400" dirty="0"/>
          </a:p>
        </p:txBody>
      </p:sp>
      <p:sp>
        <p:nvSpPr>
          <p:cNvPr id="20" name="Done by"/>
          <p:cNvSpPr/>
          <p:nvPr/>
        </p:nvSpPr>
        <p:spPr>
          <a:xfrm>
            <a:off x="7543800" y="42976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AF6F2"/>
          </a:solidFill>
          <a:ln w="12700">
            <a:solidFill>
              <a:srgbClr val="EAF6F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2668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63"/>
                </a:solidFill>
              </a:rPr>
              <a:t>Done by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26680" y="4681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Jul 2027</a:t>
            </a:r>
            <a:endParaRPr lang="en-US" sz="1600" dirty="0"/>
          </a:p>
        </p:txBody>
      </p:sp>
      <p:sp>
        <p:nvSpPr>
          <p:cNvPr id="23" name="Planned"/>
          <p:cNvSpPr/>
          <p:nvPr/>
        </p:nvSpPr>
        <p:spPr>
          <a:xfrm>
            <a:off x="9555480" y="42976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AF6F2"/>
          </a:solidFill>
          <a:ln w="12700">
            <a:solidFill>
              <a:srgbClr val="EAF6F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7383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63"/>
                </a:solidFill>
              </a:rPr>
              <a:t>Planned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738360" y="4681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₹9,000/mo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543800" y="5376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₹40,000 already set aside for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Already built: a working product, not a slide</a:t>
            </a:r>
            <a:endParaRPr lang="en-US" sz="3400" dirty="0"/>
          </a:p>
        </p:txBody>
      </p:sp>
      <p:sp>
        <p:nvSpPr>
          <p:cNvPr id="3" name="feature 1"/>
          <p:cNvSpPr/>
          <p:nvPr/>
        </p:nvSpPr>
        <p:spPr>
          <a:xfrm>
            <a:off x="548640" y="146304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4" name="Money brain + autopilot 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5" name="Money brain + autopilot icon" descr="Money brain + autopi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92252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brain + autopilot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Re-plans on every payslip, statement or new dream</a:t>
            </a:r>
            <a:endParaRPr lang="en-US" sz="1400" dirty="0"/>
          </a:p>
        </p:txBody>
      </p:sp>
      <p:sp>
        <p:nvSpPr>
          <p:cNvPr id="8" name="feature 2"/>
          <p:cNvSpPr/>
          <p:nvPr/>
        </p:nvSpPr>
        <p:spPr>
          <a:xfrm>
            <a:off x="4297680" y="146304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9" name="Can I afford it? circle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10" name="Can I afford it? icon" descr="Can I afford it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66" y="192252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 afford it?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Instant yes / when / stretch, with the trade-offs</a:t>
            </a:r>
            <a:endParaRPr lang="en-US" sz="1400" dirty="0"/>
          </a:p>
        </p:txBody>
      </p:sp>
      <p:sp>
        <p:nvSpPr>
          <p:cNvPr id="13" name="feature 3"/>
          <p:cNvSpPr/>
          <p:nvPr/>
        </p:nvSpPr>
        <p:spPr>
          <a:xfrm>
            <a:off x="8046720" y="146304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4" name="Voice + chat assistant circle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15" name="Voice + chat assistant icon" descr="Voice + chat assista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206" y="192252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8972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+ chat assistant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English and Hindi, grounded in your own numbers</a:t>
            </a:r>
            <a:endParaRPr lang="en-US" sz="1400" dirty="0"/>
          </a:p>
        </p:txBody>
      </p:sp>
      <p:sp>
        <p:nvSpPr>
          <p:cNvPr id="18" name="feature 4"/>
          <p:cNvSpPr/>
          <p:nvPr/>
        </p:nvSpPr>
        <p:spPr>
          <a:xfrm>
            <a:off x="548640" y="365760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9" name="Tax engine circle"/>
          <p:cNvSpPr/>
          <p:nvPr/>
        </p:nvSpPr>
        <p:spPr>
          <a:xfrm>
            <a:off x="822960" y="3931920"/>
            <a:ext cx="685800" cy="6858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20" name="Tax engine icon" descr="Tax eng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" y="411708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engine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regimes, all income heads, ITR prepared</a:t>
            </a:r>
            <a:endParaRPr lang="en-US" sz="1400" dirty="0"/>
          </a:p>
        </p:txBody>
      </p:sp>
      <p:sp>
        <p:nvSpPr>
          <p:cNvPr id="23" name="feature 5"/>
          <p:cNvSpPr/>
          <p:nvPr/>
        </p:nvSpPr>
        <p:spPr>
          <a:xfrm>
            <a:off x="4297680" y="365760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24" name="Insurance circle"/>
          <p:cNvSpPr/>
          <p:nvPr/>
        </p:nvSpPr>
        <p:spPr>
          <a:xfrm>
            <a:off x="4572000" y="3931920"/>
            <a:ext cx="685800" cy="6858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25" name="Insurance icon" descr="Insur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166" y="4117086"/>
            <a:ext cx="315468" cy="3154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068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Needs analysis, policy reader, compare via a licensed partner</a:t>
            </a:r>
            <a:endParaRPr lang="en-US" sz="1400" dirty="0"/>
          </a:p>
        </p:txBody>
      </p:sp>
      <p:sp>
        <p:nvSpPr>
          <p:cNvPr id="28" name="feature 6"/>
          <p:cNvSpPr/>
          <p:nvPr/>
        </p:nvSpPr>
        <p:spPr>
          <a:xfrm>
            <a:off x="8046720" y="3657600"/>
            <a:ext cx="347472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29" name="CA portal circle"/>
          <p:cNvSpPr/>
          <p:nvPr/>
        </p:nvSpPr>
        <p:spPr>
          <a:xfrm>
            <a:off x="8321040" y="3931920"/>
            <a:ext cx="685800" cy="68580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30" name="CA portal icon" descr="CA port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6206" y="4117086"/>
            <a:ext cx="315468" cy="3154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8972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portal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Works alongside your own CA, shares documents securely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763"/>
                </a:solidFill>
              </a:rPr>
              <a:t>Live prototype at paywatch.in  ·  web app + Android/iOS shells  ·  TRL 7  ·  built solo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big market the big apps don’t speak 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 crore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income tax returns filed in AY 2025-26 — every one a person who needs a money plan.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Source: Income Tax Department filings, AY 2025-26.</a:t>
            </a:r>
            <a:endParaRPr lang="en-US" sz="1100" dirty="0"/>
          </a:p>
        </p:txBody>
      </p:sp>
      <p:sp>
        <p:nvSpPr>
          <p:cNvPr id="6" name="market point 1"/>
          <p:cNvSpPr/>
          <p:nvPr/>
        </p:nvSpPr>
        <p:spPr>
          <a:xfrm>
            <a:off x="6309360" y="1600200"/>
            <a:ext cx="5349240" cy="1234440"/>
          </a:xfrm>
          <a:prstGeom prst="roundRect">
            <a:avLst>
              <a:gd name="adj" fmla="val 11111"/>
            </a:avLst>
          </a:prstGeom>
          <a:solidFill>
            <a:srgbClr val="0F3D34"/>
          </a:solidFill>
          <a:ln w="9525">
            <a:solidFill>
              <a:srgbClr val="0F3D3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7" name="Beachhead circle"/>
          <p:cNvSpPr/>
          <p:nvPr/>
        </p:nvSpPr>
        <p:spPr>
          <a:xfrm>
            <a:off x="6537960" y="1874520"/>
            <a:ext cx="685800" cy="68580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8" name="Beachhead icon" descr="Beach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3126" y="2059686"/>
            <a:ext cx="315468" cy="3154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Beachhead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22–30 first earners, small-town and metro, phone-first, no advisor</a:t>
            </a:r>
            <a:endParaRPr lang="en-US" sz="1400" dirty="0"/>
          </a:p>
        </p:txBody>
      </p:sp>
      <p:sp>
        <p:nvSpPr>
          <p:cNvPr id="11" name="market point 2"/>
          <p:cNvSpPr/>
          <p:nvPr/>
        </p:nvSpPr>
        <p:spPr>
          <a:xfrm>
            <a:off x="6309360" y="3063240"/>
            <a:ext cx="5349240" cy="1234440"/>
          </a:xfrm>
          <a:prstGeom prst="roundRect">
            <a:avLst>
              <a:gd name="adj" fmla="val 11111"/>
            </a:avLst>
          </a:prstGeom>
          <a:solidFill>
            <a:srgbClr val="0F3D34"/>
          </a:solidFill>
          <a:ln w="9525">
            <a:solidFill>
              <a:srgbClr val="0F3D3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2" name="Our edge circle"/>
          <p:cNvSpPr/>
          <p:nvPr/>
        </p:nvSpPr>
        <p:spPr>
          <a:xfrm>
            <a:off x="6537960" y="3337560"/>
            <a:ext cx="685800" cy="68580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3" name="Our edge icon" descr="Our e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126" y="352272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Our edge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Hindi, Hinglish and voice reach users English-first apps ignore</a:t>
            </a:r>
            <a:endParaRPr lang="en-US" sz="1400" dirty="0"/>
          </a:p>
        </p:txBody>
      </p:sp>
      <p:sp>
        <p:nvSpPr>
          <p:cNvPr id="16" name="market point 3"/>
          <p:cNvSpPr/>
          <p:nvPr/>
        </p:nvSpPr>
        <p:spPr>
          <a:xfrm>
            <a:off x="6309360" y="4526280"/>
            <a:ext cx="5349240" cy="1234440"/>
          </a:xfrm>
          <a:prstGeom prst="roundRect">
            <a:avLst>
              <a:gd name="adj" fmla="val 11111"/>
            </a:avLst>
          </a:prstGeom>
          <a:solidFill>
            <a:srgbClr val="0F3D34"/>
          </a:solidFill>
          <a:ln w="9525">
            <a:solidFill>
              <a:srgbClr val="0F3D34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7" name="Lifetime circle"/>
          <p:cNvSpPr/>
          <p:nvPr/>
        </p:nvSpPr>
        <p:spPr>
          <a:xfrm>
            <a:off x="6537960" y="4800600"/>
            <a:ext cx="685800" cy="68580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8" name="Lifetime icon" descr="Lifet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126" y="4985766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5236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Lifetime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452360" y="5074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First salary → tax → insurance → investing → home: we grow with them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3DE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Everyone else stops one step short</a:t>
            </a:r>
            <a:endParaRPr lang="en-US" sz="3400" dirty="0"/>
          </a:p>
        </p:txBody>
      </p:sp>
      <p:sp>
        <p:nvSpPr>
          <p:cNvPr id="3" name="FOLO card"/>
          <p:cNvSpPr/>
          <p:nvPr/>
        </p:nvSpPr>
        <p:spPr>
          <a:xfrm>
            <a:off x="548640" y="160020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EAF6F2"/>
          </a:solidFill>
          <a:ln w="9525">
            <a:solidFill>
              <a:srgbClr val="EAF6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shows what you have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Net-worth tracking and family sharing</a:t>
            </a:r>
            <a:endParaRPr lang="en-US" sz="1400" dirty="0"/>
          </a:p>
        </p:txBody>
      </p:sp>
      <p:sp>
        <p:nvSpPr>
          <p:cNvPr id="7" name="Jumpp card"/>
          <p:cNvSpPr/>
          <p:nvPr/>
        </p:nvSpPr>
        <p:spPr>
          <a:xfrm>
            <a:off x="3364992" y="160020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EAF6F2"/>
          </a:solidFill>
          <a:ln w="9525">
            <a:solidFill>
              <a:srgbClr val="EAF6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9312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helps you transact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super-app to bank, trade and pay</a:t>
            </a:r>
            <a:endParaRPr lang="en-US" sz="1400" dirty="0"/>
          </a:p>
        </p:txBody>
      </p:sp>
      <p:sp>
        <p:nvSpPr>
          <p:cNvPr id="11" name="A CA card"/>
          <p:cNvSpPr/>
          <p:nvPr/>
        </p:nvSpPr>
        <p:spPr>
          <a:xfrm>
            <a:off x="6181344" y="160020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EAF6F2"/>
          </a:solidFill>
          <a:ln w="9525">
            <a:solidFill>
              <a:srgbClr val="EAF6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55664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files your taxes once a year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Expensive, seasonal, not for daily decisions</a:t>
            </a:r>
            <a:endParaRPr lang="en-US" sz="1400" dirty="0"/>
          </a:p>
        </p:txBody>
      </p:sp>
      <p:sp>
        <p:nvSpPr>
          <p:cNvPr id="15" name="PayWatch card"/>
          <p:cNvSpPr/>
          <p:nvPr/>
        </p:nvSpPr>
        <p:spPr>
          <a:xfrm>
            <a:off x="8997696" y="160020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0B2F2A"/>
          </a:solidFill>
          <a:ln w="9525">
            <a:solidFill>
              <a:srgbClr val="2FBC9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72016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PayWatch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tells you what to do next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611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Starts from your dream and plans every rupee, every day — alongside your CA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Tracking apps die because they track instead of acting. Every screen in PayWatch ends in a next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Two ways we make money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</a:t>
            </a:r>
            <a:endParaRPr lang="en-US" sz="2000" dirty="0"/>
          </a:p>
        </p:txBody>
      </p:sp>
      <p:sp>
        <p:nvSpPr>
          <p:cNvPr id="4" name="Free tier"/>
          <p:cNvSpPr/>
          <p:nvPr/>
        </p:nvSpPr>
        <p:spPr>
          <a:xfrm>
            <a:off x="548640" y="187452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EAF6F2"/>
          </a:solidFill>
          <a:ln w="9525">
            <a:solidFill>
              <a:srgbClr val="EAF6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Money brain, dreams, score</a:t>
            </a:r>
            <a:endParaRPr lang="en-US" sz="1300" dirty="0"/>
          </a:p>
        </p:txBody>
      </p:sp>
      <p:sp>
        <p:nvSpPr>
          <p:cNvPr id="8" name="Starter tier"/>
          <p:cNvSpPr/>
          <p:nvPr/>
        </p:nvSpPr>
        <p:spPr>
          <a:xfrm>
            <a:off x="2514600" y="187452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EAF6F2"/>
          </a:solidFill>
          <a:ln w="9525">
            <a:solidFill>
              <a:srgbClr val="EAF6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974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Starter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₹199/mo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Unlimited dreams, statement scan</a:t>
            </a:r>
            <a:endParaRPr lang="en-US" sz="1300" dirty="0"/>
          </a:p>
        </p:txBody>
      </p:sp>
      <p:sp>
        <p:nvSpPr>
          <p:cNvPr id="12" name="CFO tier"/>
          <p:cNvSpPr/>
          <p:nvPr/>
        </p:nvSpPr>
        <p:spPr>
          <a:xfrm>
            <a:off x="4480560" y="187452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0B2F2A"/>
          </a:solidFill>
          <a:ln w="9525">
            <a:solidFill>
              <a:srgbClr val="0B2F2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CFO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₹499/mo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Voice, full tax engine, alerts, CA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(the bigger prize)</a:t>
            </a:r>
            <a:endParaRPr lang="en-US" sz="2000" dirty="0"/>
          </a:p>
        </p:txBody>
      </p:sp>
      <p:sp>
        <p:nvSpPr>
          <p:cNvPr id="17" name="Insurance revenue"/>
          <p:cNvSpPr/>
          <p:nvPr/>
        </p:nvSpPr>
        <p:spPr>
          <a:xfrm>
            <a:off x="6629400" y="1874520"/>
            <a:ext cx="5029200" cy="10515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8" name="Insurance circle"/>
          <p:cNvSpPr/>
          <p:nvPr/>
        </p:nvSpPr>
        <p:spPr>
          <a:xfrm>
            <a:off x="6858000" y="2075688"/>
            <a:ext cx="640080" cy="64008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19" name="Insurance icon" descr="Insur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822" y="2248510"/>
            <a:ext cx="294437" cy="29443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68096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Insurance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Commission through an IRDAI-licensed partner</a:t>
            </a:r>
            <a:endParaRPr lang="en-US" sz="1300" dirty="0"/>
          </a:p>
        </p:txBody>
      </p:sp>
      <p:sp>
        <p:nvSpPr>
          <p:cNvPr id="22" name="Mutual funds revenue"/>
          <p:cNvSpPr/>
          <p:nvPr/>
        </p:nvSpPr>
        <p:spPr>
          <a:xfrm>
            <a:off x="6629400" y="3090672"/>
            <a:ext cx="5029200" cy="10515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23" name="Mutual funds circle"/>
          <p:cNvSpPr/>
          <p:nvPr/>
        </p:nvSpPr>
        <p:spPr>
          <a:xfrm>
            <a:off x="6858000" y="3291840"/>
            <a:ext cx="640080" cy="640080"/>
          </a:xfrm>
          <a:prstGeom prst="ellipse">
            <a:avLst/>
          </a:prstGeom>
          <a:solidFill>
            <a:srgbClr val="0B2F2A"/>
          </a:solidFill>
          <a:ln w="12700">
            <a:solidFill>
              <a:srgbClr val="0B2F2A"/>
            </a:solidFill>
            <a:prstDash val="solid"/>
          </a:ln>
        </p:spPr>
      </p:sp>
      <p:pic>
        <p:nvPicPr>
          <p:cNvPr id="24" name="Mutual funds icon" descr="Mutual fun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822" y="3464662"/>
            <a:ext cx="294437" cy="29443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68096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Mutual funds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3593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Trail commission as an AMFI-registered distributor (planned)</a:t>
            </a:r>
            <a:endParaRPr lang="en-US" sz="1300" dirty="0"/>
          </a:p>
        </p:txBody>
      </p:sp>
      <p:sp>
        <p:nvSpPr>
          <p:cNvPr id="27" name="pricing insight"/>
          <p:cNvSpPr/>
          <p:nvPr/>
        </p:nvSpPr>
        <p:spPr>
          <a:xfrm>
            <a:off x="548640" y="4663440"/>
            <a:ext cx="11109960" cy="1188720"/>
          </a:xfrm>
          <a:prstGeom prst="roundRect">
            <a:avLst>
              <a:gd name="adj" fmla="val 11538"/>
            </a:avLst>
          </a:prstGeom>
          <a:solidFill>
            <a:srgbClr val="07211D"/>
          </a:solidFill>
          <a:ln w="9525">
            <a:solidFill>
              <a:srgbClr val="07211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2960" y="46634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users told us: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₹999 a year was the most-picked price, but only ~10% would pay without a trial. So we launch trial-first and earn trust before we charge.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Where we are today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508760"/>
            <a:ext cx="3474720" cy="25146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research touchpoints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conversations, 49 surveys, 56 interviews</a:t>
            </a:r>
            <a:endParaRPr lang="en-US" sz="1400" dirty="0"/>
          </a:p>
        </p:txBody>
      </p:sp>
      <p:sp>
        <p:nvSpPr>
          <p:cNvPr id="7" name="stat 2"/>
          <p:cNvSpPr/>
          <p:nvPr/>
        </p:nvSpPr>
        <p:spPr>
          <a:xfrm>
            <a:off x="4297680" y="1508760"/>
            <a:ext cx="3474720" cy="25146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working prototype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at paywatch.in with a one-tap demo</a:t>
            </a:r>
            <a:endParaRPr lang="en-US" sz="1400" dirty="0"/>
          </a:p>
        </p:txBody>
      </p:sp>
      <p:sp>
        <p:nvSpPr>
          <p:cNvPr id="11" name="stat 3"/>
          <p:cNvSpPr/>
          <p:nvPr/>
        </p:nvSpPr>
        <p:spPr>
          <a:xfrm>
            <a:off x="8046720" y="1508760"/>
            <a:ext cx="3474720" cy="25146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667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programmes backing us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MAHE Innovation Centre + XElevate Cohort 3</a:t>
            </a:r>
            <a:endParaRPr lang="en-US" sz="1400" dirty="0"/>
          </a:p>
        </p:txBody>
      </p:sp>
      <p:sp>
        <p:nvSpPr>
          <p:cNvPr id="15" name="honest status"/>
          <p:cNvSpPr/>
          <p:nvPr/>
        </p:nvSpPr>
        <p:spPr>
          <a:xfrm>
            <a:off x="548640" y="4343400"/>
            <a:ext cx="11109960" cy="1463040"/>
          </a:xfrm>
          <a:prstGeom prst="roundRect">
            <a:avLst>
              <a:gd name="adj" fmla="val 9375"/>
            </a:avLst>
          </a:prstGeom>
          <a:solidFill>
            <a:srgbClr val="EAF6F2"/>
          </a:solidFill>
          <a:ln w="9525">
            <a:solidFill>
              <a:srgbClr val="EAF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Honest status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paying users or revenue yet, and not yet incorporated. Team: founder (product + engineering) and a research intern. Next: a tester cohort to measure retention and trust before charging.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Built to be trusted from day one</a:t>
            </a:r>
            <a:endParaRPr lang="en-US" sz="3400" dirty="0"/>
          </a:p>
        </p:txBody>
      </p:sp>
      <p:sp>
        <p:nvSpPr>
          <p:cNvPr id="3" name="trust 1"/>
          <p:cNvSpPr/>
          <p:nvPr/>
        </p:nvSpPr>
        <p:spPr>
          <a:xfrm>
            <a:off x="548640" y="1508760"/>
            <a:ext cx="539496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4" name="Education, not advice circle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5" name="Education, not advice icon" descr="Education, not ad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2338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Education, not advice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31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 never name a stock or fund — only categories. Inside the SEBI lane.</a:t>
            </a:r>
            <a:endParaRPr lang="en-US" sz="1400" dirty="0"/>
          </a:p>
        </p:txBody>
      </p:sp>
      <p:sp>
        <p:nvSpPr>
          <p:cNvPr id="8" name="trust 2"/>
          <p:cNvSpPr/>
          <p:nvPr/>
        </p:nvSpPr>
        <p:spPr>
          <a:xfrm>
            <a:off x="6172200" y="1508760"/>
            <a:ext cx="539496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9" name="Licensed insurance partner circle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0" name="Licensed insurance partner icon" descr="Licensed insurance part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233879"/>
            <a:ext cx="378562" cy="3785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 insurance partner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331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IRDAI-licensed partner handles every regulated sale.</a:t>
            </a:r>
            <a:endParaRPr lang="en-US" sz="1400" dirty="0"/>
          </a:p>
        </p:txBody>
      </p:sp>
      <p:sp>
        <p:nvSpPr>
          <p:cNvPr id="13" name="trust 3"/>
          <p:cNvSpPr/>
          <p:nvPr/>
        </p:nvSpPr>
        <p:spPr>
          <a:xfrm>
            <a:off x="548640" y="3611880"/>
            <a:ext cx="539496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4" name="Your data stays yours circle"/>
          <p:cNvSpPr/>
          <p:nvPr/>
        </p:nvSpPr>
        <p:spPr>
          <a:xfrm>
            <a:off x="868680" y="4114800"/>
            <a:ext cx="822960" cy="82296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5" name="Your data stays yours icon" descr="Your data stays you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4336999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434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Encrypted, never sold, delete anytime. Built for the DPDP Act.</a:t>
            </a:r>
            <a:endParaRPr lang="en-US" sz="1400" dirty="0"/>
          </a:p>
        </p:txBody>
      </p:sp>
      <p:sp>
        <p:nvSpPr>
          <p:cNvPr id="18" name="trust 4"/>
          <p:cNvSpPr/>
          <p:nvPr/>
        </p:nvSpPr>
        <p:spPr>
          <a:xfrm>
            <a:off x="6172200" y="3611880"/>
            <a:ext cx="539496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F2A">
                <a:alpha val="12000"/>
              </a:srgbClr>
            </a:outerShdw>
          </a:effectLst>
        </p:spPr>
      </p:sp>
      <p:sp>
        <p:nvSpPr>
          <p:cNvPr id="19" name="Alongside your CA circle"/>
          <p:cNvSpPr/>
          <p:nvPr/>
        </p:nvSpPr>
        <p:spPr>
          <a:xfrm>
            <a:off x="6492240" y="4114800"/>
            <a:ext cx="822960" cy="82296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20" name="Alongside your CA icon" descr="Alongside your 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4336999"/>
            <a:ext cx="378562" cy="3785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Alongside your CA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4434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 prepare and organise; your CA signs where the law needs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next six months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822960" y="2148840"/>
            <a:ext cx="10561320" cy="0"/>
          </a:xfrm>
          <a:prstGeom prst="line">
            <a:avLst/>
          </a:prstGeom>
          <a:noFill/>
          <a:ln w="25400">
            <a:solidFill>
              <a:srgbClr val="2FBC9B"/>
            </a:solidFill>
            <a:prstDash val="solid"/>
          </a:ln>
        </p:spPr>
      </p:sp>
      <p:sp>
        <p:nvSpPr>
          <p:cNvPr id="4" name="Phase 1 marker"/>
          <p:cNvSpPr/>
          <p:nvPr/>
        </p:nvSpPr>
        <p:spPr>
          <a:xfrm>
            <a:off x="685800" y="1984248"/>
            <a:ext cx="329184" cy="329184"/>
          </a:xfrm>
          <a:prstGeom prst="ellipse">
            <a:avLst/>
          </a:prstGeom>
          <a:solidFill>
            <a:srgbClr val="2FBC9B"/>
          </a:solidFill>
          <a:ln w="25400">
            <a:solidFill>
              <a:srgbClr val="83DE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Tester cohort of 50 first earners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Measure retention and trust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Finish persona research</a:t>
            </a:r>
            <a:endParaRPr lang="en-US" sz="1500" dirty="0"/>
          </a:p>
        </p:txBody>
      </p:sp>
      <p:sp>
        <p:nvSpPr>
          <p:cNvPr id="8" name="Phase 2 marker"/>
          <p:cNvSpPr/>
          <p:nvPr/>
        </p:nvSpPr>
        <p:spPr>
          <a:xfrm>
            <a:off x="4434840" y="1984248"/>
            <a:ext cx="329184" cy="329184"/>
          </a:xfrm>
          <a:prstGeom prst="ellipse">
            <a:avLst/>
          </a:prstGeom>
          <a:solidFill>
            <a:srgbClr val="2FBC9B"/>
          </a:solidFill>
          <a:ln w="25400">
            <a:solidFill>
              <a:srgbClr val="83DE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Incorporate Pvt Ltd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File the PayWatch trademark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Sign a licensed insurance partner</a:t>
            </a:r>
            <a:endParaRPr lang="en-US" sz="1500" dirty="0"/>
          </a:p>
        </p:txBody>
      </p:sp>
      <p:sp>
        <p:nvSpPr>
          <p:cNvPr id="12" name="Phase 3 marker"/>
          <p:cNvSpPr/>
          <p:nvPr/>
        </p:nvSpPr>
        <p:spPr>
          <a:xfrm>
            <a:off x="8183880" y="1984248"/>
            <a:ext cx="329184" cy="329184"/>
          </a:xfrm>
          <a:prstGeom prst="ellipse">
            <a:avLst/>
          </a:prstGeom>
          <a:solidFill>
            <a:srgbClr val="2FBC9B"/>
          </a:solidFill>
          <a:ln w="25400">
            <a:solidFill>
              <a:srgbClr val="83DE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Trial-first paid plans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Android and iOS apps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AMFI distributor registration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3DE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looking for</a:t>
            </a:r>
            <a:endParaRPr lang="en-US" sz="3600" dirty="0"/>
          </a:p>
        </p:txBody>
      </p:sp>
      <p:sp>
        <p:nvSpPr>
          <p:cNvPr id="3" name="ask 1 circle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4" name="ask 1 icon" descr="as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8915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691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An introduction to a licensed insurance or embedded-insurance partner</a:t>
            </a:r>
            <a:endParaRPr lang="en-US" sz="1900" dirty="0"/>
          </a:p>
        </p:txBody>
      </p:sp>
      <p:sp>
        <p:nvSpPr>
          <p:cNvPr id="6" name="ask 2 circle"/>
          <p:cNvSpPr/>
          <p:nvPr/>
        </p:nvSpPr>
        <p:spPr>
          <a:xfrm>
            <a:off x="640080" y="2834640"/>
            <a:ext cx="731520" cy="73152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7" name="ask 2 icon" descr="as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3032150"/>
            <a:ext cx="336499" cy="3364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834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50 early testers: 22–30 first earners who’ll try it and tell us the truth</a:t>
            </a:r>
            <a:endParaRPr lang="en-US" sz="1900" dirty="0"/>
          </a:p>
        </p:txBody>
      </p:sp>
      <p:sp>
        <p:nvSpPr>
          <p:cNvPr id="9" name="ask 3 circle"/>
          <p:cNvSpPr/>
          <p:nvPr/>
        </p:nvSpPr>
        <p:spPr>
          <a:xfrm>
            <a:off x="640080" y="3977640"/>
            <a:ext cx="731520" cy="731520"/>
          </a:xfrm>
          <a:prstGeom prst="ellipse">
            <a:avLst/>
          </a:prstGeom>
          <a:solidFill>
            <a:srgbClr val="2FBC9B"/>
          </a:solidFill>
          <a:ln w="12700">
            <a:solidFill>
              <a:srgbClr val="2FBC9B"/>
            </a:solidFill>
            <a:prstDash val="solid"/>
          </a:ln>
        </p:spPr>
      </p:sp>
      <p:pic>
        <p:nvPicPr>
          <p:cNvPr id="10" name="ask 3 icon" descr="as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175150"/>
            <a:ext cx="336499" cy="33649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3977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Mentorship on pricing, trust and getting investor-ready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your dream?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it at paywatch.in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Yash Saini · Founder, PayWatch</a:t>
            </a:r>
            <a:endParaRPr lang="en-US" sz="1400" dirty="0"/>
          </a:p>
        </p:txBody>
      </p:sp>
      <p:sp>
        <p:nvSpPr>
          <p:cNvPr id="14" name="orb halo"/>
          <p:cNvSpPr/>
          <p:nvPr/>
        </p:nvSpPr>
        <p:spPr>
          <a:xfrm>
            <a:off x="8383219" y="1936699"/>
            <a:ext cx="2710282" cy="2710282"/>
          </a:xfrm>
          <a:prstGeom prst="ellipse">
            <a:avLst/>
          </a:prstGeom>
          <a:solidFill>
            <a:srgbClr val="2FBC9B">
              <a:alpha val="8000"/>
            </a:srgbClr>
          </a:solidFill>
          <a:ln w="12700">
            <a:solidFill>
              <a:srgbClr val="2FBC9B">
                <a:alpha val="0"/>
              </a:srgbClr>
            </a:solidFill>
            <a:prstDash val="solid"/>
          </a:ln>
        </p:spPr>
      </p:sp>
      <p:sp>
        <p:nvSpPr>
          <p:cNvPr id="15" name="orbit 1"/>
          <p:cNvSpPr/>
          <p:nvPr/>
        </p:nvSpPr>
        <p:spPr>
          <a:xfrm>
            <a:off x="7669987" y="2040474"/>
            <a:ext cx="4136746" cy="2502731"/>
          </a:xfrm>
          <a:prstGeom prst="ellipse">
            <a:avLst/>
          </a:prstGeom>
          <a:solidFill>
            <a:srgbClr val="07211D">
              <a:alpha val="0"/>
            </a:srgbClr>
          </a:solidFill>
          <a:ln w="12700">
            <a:solidFill>
              <a:srgbClr val="83DEC7">
                <a:alpha val="45000"/>
              </a:srgbClr>
            </a:solidFill>
            <a:prstDash val="solid"/>
          </a:ln>
        </p:spPr>
      </p:sp>
      <p:sp>
        <p:nvSpPr>
          <p:cNvPr id="16" name="orbit 2"/>
          <p:cNvSpPr/>
          <p:nvPr/>
        </p:nvSpPr>
        <p:spPr>
          <a:xfrm>
            <a:off x="8062265" y="2508265"/>
            <a:ext cx="3352190" cy="1567149"/>
          </a:xfrm>
          <a:prstGeom prst="ellipse">
            <a:avLst/>
          </a:prstGeom>
          <a:solidFill>
            <a:srgbClr val="07211D">
              <a:alpha val="0"/>
            </a:srgbClr>
          </a:solidFill>
          <a:ln w="12700">
            <a:solidFill>
              <a:srgbClr val="83DEC7">
                <a:alpha val="37000"/>
              </a:srgbClr>
            </a:solidFill>
            <a:prstDash val="solid"/>
          </a:ln>
        </p:spPr>
      </p:sp>
      <p:sp>
        <p:nvSpPr>
          <p:cNvPr id="17" name="orbit 3"/>
          <p:cNvSpPr/>
          <p:nvPr/>
        </p:nvSpPr>
        <p:spPr>
          <a:xfrm>
            <a:off x="8454542" y="2854058"/>
            <a:ext cx="2567635" cy="875564"/>
          </a:xfrm>
          <a:prstGeom prst="ellipse">
            <a:avLst/>
          </a:prstGeom>
          <a:solidFill>
            <a:srgbClr val="07211D">
              <a:alpha val="0"/>
            </a:srgbClr>
          </a:solidFill>
          <a:ln w="12700">
            <a:solidFill>
              <a:srgbClr val="83DEC7">
                <a:alpha val="29000"/>
              </a:srgbClr>
            </a:solidFill>
            <a:prstDash val="solid"/>
          </a:ln>
        </p:spPr>
      </p:sp>
      <p:sp>
        <p:nvSpPr>
          <p:cNvPr id="18" name="orb core"/>
          <p:cNvSpPr/>
          <p:nvPr/>
        </p:nvSpPr>
        <p:spPr>
          <a:xfrm>
            <a:off x="9025128" y="2578608"/>
            <a:ext cx="1426464" cy="1426464"/>
          </a:xfrm>
          <a:prstGeom prst="ellipse">
            <a:avLst/>
          </a:prstGeom>
          <a:solidFill>
            <a:srgbClr val="2FBC9B"/>
          </a:solidFill>
          <a:ln w="25400">
            <a:solidFill>
              <a:srgbClr val="83DEC7"/>
            </a:solidFill>
            <a:prstDash val="solid"/>
          </a:ln>
        </p:spPr>
      </p:sp>
      <p:sp>
        <p:nvSpPr>
          <p:cNvPr id="19" name="orb shine"/>
          <p:cNvSpPr/>
          <p:nvPr/>
        </p:nvSpPr>
        <p:spPr>
          <a:xfrm>
            <a:off x="9296156" y="2792578"/>
            <a:ext cx="499262" cy="39227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dream planet 1"/>
          <p:cNvSpPr/>
          <p:nvPr/>
        </p:nvSpPr>
        <p:spPr>
          <a:xfrm>
            <a:off x="11520434" y="2666756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dream planet 2"/>
          <p:cNvSpPr/>
          <p:nvPr/>
        </p:nvSpPr>
        <p:spPr>
          <a:xfrm>
            <a:off x="7990622" y="3314700"/>
            <a:ext cx="310896" cy="310896"/>
          </a:xfrm>
          <a:prstGeom prst="ellipse">
            <a:avLst/>
          </a:prstGeom>
          <a:solidFill>
            <a:srgbClr val="E5705F"/>
          </a:solidFill>
          <a:ln w="12700">
            <a:solidFill>
              <a:srgbClr val="E5705F"/>
            </a:solidFill>
            <a:prstDash val="solid"/>
          </a:ln>
        </p:spPr>
      </p:sp>
      <p:sp>
        <p:nvSpPr>
          <p:cNvPr id="22" name="dream planet 3"/>
          <p:cNvSpPr/>
          <p:nvPr/>
        </p:nvSpPr>
        <p:spPr>
          <a:xfrm>
            <a:off x="10685313" y="3525561"/>
            <a:ext cx="274320" cy="274320"/>
          </a:xfrm>
          <a:prstGeom prst="ellipse">
            <a:avLst/>
          </a:prstGeom>
          <a:solidFill>
            <a:srgbClr val="46C9E0"/>
          </a:solidFill>
          <a:ln w="12700">
            <a:solidFill>
              <a:srgbClr val="46C9E0"/>
            </a:solidFill>
            <a:prstDash val="solid"/>
          </a:ln>
        </p:spPr>
      </p:sp>
      <p:sp>
        <p:nvSpPr>
          <p:cNvPr id="23" name="dream planet 4"/>
          <p:cNvSpPr/>
          <p:nvPr/>
        </p:nvSpPr>
        <p:spPr>
          <a:xfrm>
            <a:off x="8772525" y="2816352"/>
            <a:ext cx="237744" cy="237744"/>
          </a:xfrm>
          <a:prstGeom prst="ellipse">
            <a:avLst/>
          </a:prstGeom>
          <a:solidFill>
            <a:srgbClr val="83DEC7"/>
          </a:solidFill>
          <a:ln w="12700">
            <a:solidFill>
              <a:srgbClr val="83DEC7"/>
            </a:solidFill>
            <a:prstDash val="solid"/>
          </a:ln>
        </p:spPr>
      </p:sp>
      <p:sp>
        <p:nvSpPr>
          <p:cNvPr id="25" name="Text 0"/>
          <p:cNvSpPr/>
          <p:nvPr>
            <p:ph idx="100" type="title" hasCustomPrompt="1"/>
          </p:nvPr>
        </p:nvSpPr>
        <p:spPr>
          <a:xfrm>
            <a:off x="64008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640080" y="4023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Watch Money Brain">
  <a:themeElements>
    <a:clrScheme name="PayWatch Money Brain">
      <a:dk1>
        <a:srgbClr val="1A2421"/>
      </a:dk1>
      <a:lt1>
        <a:srgbClr val="FFFFFF"/>
      </a:lt1>
      <a:dk2>
        <a:srgbClr val="0B2F2A"/>
      </a:dk2>
      <a:lt2>
        <a:srgbClr val="EAF6F2"/>
      </a:lt2>
      <a:accent1>
        <a:srgbClr val="2FBC9B"/>
      </a:accent1>
      <a:accent2>
        <a:srgbClr val="0F3D34"/>
      </a:accent2>
      <a:accent3>
        <a:srgbClr val="83DEC7"/>
      </a:accent3>
      <a:accent4>
        <a:srgbClr val="F2A93B"/>
      </a:accent4>
      <a:accent5>
        <a:srgbClr val="46C9E0"/>
      </a:accent5>
      <a:accent6>
        <a:srgbClr val="E5705F"/>
      </a:accent6>
      <a:hlink>
        <a:srgbClr val="1D6A5F"/>
      </a:hlink>
      <a:folHlink>
        <a:srgbClr val="16544B"/>
      </a:folHlink>
    </a:clrScheme>
    <a:fontScheme name="PayWatch Money Br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PayWatch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PayWatch — Pitch Deck</dc:title>
  <dc:subject>PptxGenJS Presentation</dc:subject>
  <dc:creator>Yash Saini</dc:creator>
  <cp:lastModifiedBy>Yash Saini</cp:lastModifiedBy>
  <cp:revision>1</cp:revision>
  <dcterms:created xsi:type="dcterms:W3CDTF">2026-10-24T03:12:53Z</dcterms:created>
  <dcterms:modified xsi:type="dcterms:W3CDTF">2026-10-24T03:12:53Z</dcterms:modified>
</cp:coreProperties>
</file>